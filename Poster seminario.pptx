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2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24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6627" y="685800"/>
            <a:ext cx="2425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-morfometricamente se comportan diferentes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-existe desequilibrio en dicvisorias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-conclusion con inventarios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900"/>
              <a:buNone/>
              <a:defRPr sz="259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00"/>
              <a:buNone/>
              <a:defRPr sz="139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900"/>
              <a:buNone/>
              <a:defRPr sz="179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 sz="7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39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032046" y="4623681"/>
            <a:ext cx="9297300" cy="6288900"/>
          </a:xfrm>
          <a:prstGeom prst="rect">
            <a:avLst/>
          </a:prstGeom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032046" y="11564195"/>
            <a:ext cx="9297300" cy="264588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1pPr>
            <a:lvl2pPr marL="914400" lvl="1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2pPr>
            <a:lvl3pPr marL="1371600" lvl="2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3pPr>
            <a:lvl4pPr marL="1828800" lvl="3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4pPr>
            <a:lvl5pPr marL="2286000" lvl="4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5pPr>
            <a:lvl6pPr marL="2743200" lvl="5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6pPr>
            <a:lvl7pPr marL="3200400" lvl="6" indent="-609600">
              <a:spcBef>
                <a:spcPts val="0"/>
              </a:spcBef>
              <a:spcAft>
                <a:spcPts val="0"/>
              </a:spcAft>
              <a:buSzPts val="6000"/>
              <a:buChar char="●"/>
              <a:defRPr sz="6000"/>
            </a:lvl7pPr>
            <a:lvl8pPr marL="3657600" lvl="7" indent="-609600">
              <a:spcBef>
                <a:spcPts val="0"/>
              </a:spcBef>
              <a:spcAft>
                <a:spcPts val="0"/>
              </a:spcAft>
              <a:buSzPts val="6000"/>
              <a:buChar char="○"/>
              <a:defRPr sz="6000"/>
            </a:lvl8pPr>
            <a:lvl9pPr marL="4114800" lvl="8" indent="-609600">
              <a:spcBef>
                <a:spcPts val="0"/>
              </a:spcBef>
              <a:spcAft>
                <a:spcPts val="0"/>
              </a:spcAft>
              <a:buSzPts val="6000"/>
              <a:buChar char="■"/>
              <a:defRPr sz="60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1pPr>
            <a:lvl2pPr lvl="1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2pPr>
            <a:lvl3pPr lvl="2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3pPr>
            <a:lvl4pPr lvl="3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4pPr>
            <a:lvl5pPr lvl="4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5pPr>
            <a:lvl6pPr lvl="5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6pPr>
            <a:lvl7pPr lvl="6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7pPr>
            <a:lvl8pPr lvl="7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8pPr>
            <a:lvl9pPr lvl="8">
              <a:spcBef>
                <a:spcPts val="0"/>
              </a:spcBef>
              <a:spcAft>
                <a:spcPts val="0"/>
              </a:spcAft>
              <a:buSzPts val="23900"/>
              <a:buNone/>
              <a:defRPr sz="239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55425" tIns="455425" rIns="455425" bIns="455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900"/>
              <a:buNone/>
              <a:defRPr sz="20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879077" y="23327077"/>
            <a:ext cx="13393800" cy="102786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0"/>
              <a:buNone/>
              <a:defRPr sz="105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457200" lvl="0" indent="-800100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032046" y="9205128"/>
            <a:ext cx="28212000" cy="16340100"/>
          </a:xfrm>
          <a:prstGeom prst="rect">
            <a:avLst/>
          </a:prstGeom>
        </p:spPr>
        <p:txBody>
          <a:bodyPr spcFirstLastPara="1" wrap="square" lIns="455425" tIns="455425" rIns="455425" bIns="455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800"/>
              <a:buNone/>
              <a:defRPr sz="59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032046" y="26232690"/>
            <a:ext cx="28212000" cy="10825200"/>
          </a:xfrm>
          <a:prstGeom prst="rect">
            <a:avLst/>
          </a:prstGeom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 algn="ctr">
              <a:spcBef>
                <a:spcPts val="0"/>
              </a:spcBef>
              <a:spcAft>
                <a:spcPts val="0"/>
              </a:spcAft>
              <a:buSzPts val="9000"/>
              <a:buChar char="●"/>
              <a:defRPr/>
            </a:lvl1pPr>
            <a:lvl2pPr marL="914400" lvl="1" indent="-6731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2pPr>
            <a:lvl3pPr marL="1371600" lvl="2" indent="-6731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3pPr>
            <a:lvl4pPr marL="1828800" lvl="3" indent="-6731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4pPr>
            <a:lvl5pPr marL="2286000" lvl="4" indent="-6731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5pPr>
            <a:lvl6pPr marL="2743200" lvl="5" indent="-6731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6pPr>
            <a:lvl7pPr marL="3200400" lvl="6" indent="-673100" algn="ctr">
              <a:spcBef>
                <a:spcPts val="0"/>
              </a:spcBef>
              <a:spcAft>
                <a:spcPts val="0"/>
              </a:spcAft>
              <a:buSzPts val="7000"/>
              <a:buChar char="●"/>
              <a:defRPr/>
            </a:lvl7pPr>
            <a:lvl8pPr marL="3657600" lvl="7" indent="-673100" algn="ctr">
              <a:spcBef>
                <a:spcPts val="0"/>
              </a:spcBef>
              <a:spcAft>
                <a:spcPts val="0"/>
              </a:spcAft>
              <a:buSzPts val="7000"/>
              <a:buChar char="○"/>
              <a:defRPr/>
            </a:lvl8pPr>
            <a:lvl9pPr marL="4114800" lvl="8" indent="-673100" algn="ctr">
              <a:spcBef>
                <a:spcPts val="0"/>
              </a:spcBef>
              <a:spcAft>
                <a:spcPts val="0"/>
              </a:spcAft>
              <a:buSzPts val="7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00"/>
              <a:buNone/>
              <a:defRPr sz="13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t" anchorCtr="0">
            <a:normAutofit/>
          </a:bodyPr>
          <a:lstStyle>
            <a:lvl1pPr marL="457200" lvl="0" indent="-800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Char char="●"/>
              <a:defRPr sz="9000">
                <a:solidFill>
                  <a:schemeClr val="dk2"/>
                </a:solidFill>
              </a:defRPr>
            </a:lvl1pPr>
            <a:lvl2pPr marL="914400" lvl="1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2pPr>
            <a:lvl3pPr marL="1371600" lvl="2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3pPr>
            <a:lvl4pPr marL="1828800" lvl="3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4pPr>
            <a:lvl5pPr marL="2286000" lvl="4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5pPr>
            <a:lvl6pPr marL="2743200" lvl="5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6pPr>
            <a:lvl7pPr marL="3200400" lvl="6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●"/>
              <a:defRPr sz="7000">
                <a:solidFill>
                  <a:schemeClr val="dk2"/>
                </a:solidFill>
              </a:defRPr>
            </a:lvl7pPr>
            <a:lvl8pPr marL="3657600" lvl="7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○"/>
              <a:defRPr sz="7000">
                <a:solidFill>
                  <a:schemeClr val="dk2"/>
                </a:solidFill>
              </a:defRPr>
            </a:lvl8pPr>
            <a:lvl9pPr marL="4114800" lvl="8" indent="-673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Char char="■"/>
              <a:defRPr sz="7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425" tIns="455425" rIns="455425" bIns="455425" anchor="ctr" anchorCtr="0">
            <a:normAutofit/>
          </a:bodyPr>
          <a:lstStyle>
            <a:lvl1pPr lvl="0" algn="r">
              <a:buNone/>
              <a:defRPr sz="5000">
                <a:solidFill>
                  <a:schemeClr val="dk2"/>
                </a:solidFill>
              </a:defRPr>
            </a:lvl1pPr>
            <a:lvl2pPr lvl="1" algn="r">
              <a:buNone/>
              <a:defRPr sz="5000">
                <a:solidFill>
                  <a:schemeClr val="dk2"/>
                </a:solidFill>
              </a:defRPr>
            </a:lvl2pPr>
            <a:lvl3pPr lvl="2" algn="r">
              <a:buNone/>
              <a:defRPr sz="5000">
                <a:solidFill>
                  <a:schemeClr val="dk2"/>
                </a:solidFill>
              </a:defRPr>
            </a:lvl3pPr>
            <a:lvl4pPr lvl="3" algn="r">
              <a:buNone/>
              <a:defRPr sz="5000">
                <a:solidFill>
                  <a:schemeClr val="dk2"/>
                </a:solidFill>
              </a:defRPr>
            </a:lvl4pPr>
            <a:lvl5pPr lvl="4" algn="r">
              <a:buNone/>
              <a:defRPr sz="5000">
                <a:solidFill>
                  <a:schemeClr val="dk2"/>
                </a:solidFill>
              </a:defRPr>
            </a:lvl5pPr>
            <a:lvl6pPr lvl="5" algn="r">
              <a:buNone/>
              <a:defRPr sz="5000">
                <a:solidFill>
                  <a:schemeClr val="dk2"/>
                </a:solidFill>
              </a:defRPr>
            </a:lvl6pPr>
            <a:lvl7pPr lvl="6" algn="r">
              <a:buNone/>
              <a:defRPr sz="5000">
                <a:solidFill>
                  <a:schemeClr val="dk2"/>
                </a:solidFill>
              </a:defRPr>
            </a:lvl7pPr>
            <a:lvl8pPr lvl="7" algn="r">
              <a:buNone/>
              <a:defRPr sz="5000">
                <a:solidFill>
                  <a:schemeClr val="dk2"/>
                </a:solidFill>
              </a:defRPr>
            </a:lvl8pPr>
            <a:lvl9pPr lvl="8" algn="r">
              <a:buNone/>
              <a:defRPr sz="5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10" Type="http://schemas.openxmlformats.org/officeDocument/2006/relationships/image" Target="../media/image8.jp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jp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397;p39">
            <a:extLst>
              <a:ext uri="{FF2B5EF4-FFF2-40B4-BE49-F238E27FC236}">
                <a16:creationId xmlns:a16="http://schemas.microsoft.com/office/drawing/2014/main" id="{DC5A9698-CEE5-44D8-AD25-60B061442937}"/>
              </a:ext>
            </a:extLst>
          </p:cNvPr>
          <p:cNvGrpSpPr/>
          <p:nvPr/>
        </p:nvGrpSpPr>
        <p:grpSpPr>
          <a:xfrm>
            <a:off x="26324896" y="25645753"/>
            <a:ext cx="3015540" cy="3015540"/>
            <a:chOff x="3686175" y="1204911"/>
            <a:chExt cx="4476750" cy="4476750"/>
          </a:xfrm>
        </p:grpSpPr>
        <p:pic>
          <p:nvPicPr>
            <p:cNvPr id="194" name="Google Shape;398;p39" descr="Gráfico, Gráfico de dispersión&#10;&#10;Descripción generada automáticamente">
              <a:extLst>
                <a:ext uri="{FF2B5EF4-FFF2-40B4-BE49-F238E27FC236}">
                  <a16:creationId xmlns:a16="http://schemas.microsoft.com/office/drawing/2014/main" id="{6A10EBA6-F059-435B-B1AD-30B1BFA8149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686175" y="1204911"/>
              <a:ext cx="4476750" cy="44767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5" name="Google Shape;399;p39">
              <a:extLst>
                <a:ext uri="{FF2B5EF4-FFF2-40B4-BE49-F238E27FC236}">
                  <a16:creationId xmlns:a16="http://schemas.microsoft.com/office/drawing/2014/main" id="{421933FB-73D7-4F7A-9BCE-F665CFCA41D3}"/>
                </a:ext>
              </a:extLst>
            </p:cNvPr>
            <p:cNvCxnSpPr/>
            <p:nvPr/>
          </p:nvCxnSpPr>
          <p:spPr>
            <a:xfrm>
              <a:off x="4248150" y="1252537"/>
              <a:ext cx="376237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400;p39">
              <a:extLst>
                <a:ext uri="{FF2B5EF4-FFF2-40B4-BE49-F238E27FC236}">
                  <a16:creationId xmlns:a16="http://schemas.microsoft.com/office/drawing/2014/main" id="{240B36E2-87D9-46F1-A977-22171810B252}"/>
                </a:ext>
              </a:extLst>
            </p:cNvPr>
            <p:cNvCxnSpPr/>
            <p:nvPr/>
          </p:nvCxnSpPr>
          <p:spPr>
            <a:xfrm>
              <a:off x="8010525" y="1252537"/>
              <a:ext cx="0" cy="3824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64" name="Google Shape;408;p40" descr="Mapa&#10;&#10;Descripción generada automáticamente">
            <a:extLst>
              <a:ext uri="{FF2B5EF4-FFF2-40B4-BE49-F238E27FC236}">
                <a16:creationId xmlns:a16="http://schemas.microsoft.com/office/drawing/2014/main" id="{FBAEFB95-24EF-4F81-ADE0-6DFAE08925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152272" y="28906244"/>
            <a:ext cx="10462852" cy="107023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 rotWithShape="1">
          <a:blip r:embed="rId5">
            <a:alphaModFix/>
          </a:blip>
          <a:srcRect t="8148" b="6447"/>
          <a:stretch/>
        </p:blipFill>
        <p:spPr>
          <a:xfrm>
            <a:off x="411377" y="240894"/>
            <a:ext cx="4593976" cy="3923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57;p22">
            <a:extLst>
              <a:ext uri="{FF2B5EF4-FFF2-40B4-BE49-F238E27FC236}">
                <a16:creationId xmlns:a16="http://schemas.microsoft.com/office/drawing/2014/main" id="{3E85A0FF-BB5D-49D3-9B85-5F733721E494}"/>
              </a:ext>
            </a:extLst>
          </p:cNvPr>
          <p:cNvGrpSpPr/>
          <p:nvPr/>
        </p:nvGrpSpPr>
        <p:grpSpPr>
          <a:xfrm>
            <a:off x="8120537" y="10789149"/>
            <a:ext cx="14996259" cy="2530612"/>
            <a:chOff x="1712465" y="2477153"/>
            <a:chExt cx="8848724" cy="1476375"/>
          </a:xfrm>
        </p:grpSpPr>
        <p:pic>
          <p:nvPicPr>
            <p:cNvPr id="182" name="Google Shape;158;p22" descr="Imagen de la pantalla de un celular con letras&#10;&#10;Descripción generada automáticamente con confianza baja">
              <a:extLst>
                <a:ext uri="{FF2B5EF4-FFF2-40B4-BE49-F238E27FC236}">
                  <a16:creationId xmlns:a16="http://schemas.microsoft.com/office/drawing/2014/main" id="{5BF75E23-8860-4333-80B6-91BD77510858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r="39630"/>
            <a:stretch/>
          </p:blipFill>
          <p:spPr>
            <a:xfrm>
              <a:off x="1712465" y="2477153"/>
              <a:ext cx="6566819" cy="147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59;p22" descr="Imagen de la pantalla de un celular con letras&#10;&#10;Descripción generada automáticamente con confianza baja">
              <a:extLst>
                <a:ext uri="{FF2B5EF4-FFF2-40B4-BE49-F238E27FC236}">
                  <a16:creationId xmlns:a16="http://schemas.microsoft.com/office/drawing/2014/main" id="{BD0231B6-EAC4-4F31-8816-0D0601E44EF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79810"/>
            <a:stretch/>
          </p:blipFill>
          <p:spPr>
            <a:xfrm>
              <a:off x="8365008" y="2477153"/>
              <a:ext cx="2196181" cy="1476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220;p30">
            <a:extLst>
              <a:ext uri="{FF2B5EF4-FFF2-40B4-BE49-F238E27FC236}">
                <a16:creationId xmlns:a16="http://schemas.microsoft.com/office/drawing/2014/main" id="{7852A862-BBCA-44F5-9CF0-86ADBC63FCA5}"/>
              </a:ext>
            </a:extLst>
          </p:cNvPr>
          <p:cNvGrpSpPr/>
          <p:nvPr/>
        </p:nvGrpSpPr>
        <p:grpSpPr>
          <a:xfrm>
            <a:off x="318655" y="27955289"/>
            <a:ext cx="7744990" cy="4970292"/>
            <a:chOff x="6029326" y="1237642"/>
            <a:chExt cx="5447747" cy="3305784"/>
          </a:xfrm>
        </p:grpSpPr>
        <p:pic>
          <p:nvPicPr>
            <p:cNvPr id="200" name="Google Shape;221;p30" descr="Tabla&#10;&#10;Descripción generada automáticamente">
              <a:extLst>
                <a:ext uri="{FF2B5EF4-FFF2-40B4-BE49-F238E27FC236}">
                  <a16:creationId xmlns:a16="http://schemas.microsoft.com/office/drawing/2014/main" id="{76C717AA-F50F-4001-84C0-0FD8937449B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067425" y="1447800"/>
              <a:ext cx="5349437" cy="16954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1" name="Google Shape;222;p30">
              <a:extLst>
                <a:ext uri="{FF2B5EF4-FFF2-40B4-BE49-F238E27FC236}">
                  <a16:creationId xmlns:a16="http://schemas.microsoft.com/office/drawing/2014/main" id="{D41ED0C4-2E84-4298-88D1-6F9376D936B3}"/>
                </a:ext>
              </a:extLst>
            </p:cNvPr>
            <p:cNvGrpSpPr/>
            <p:nvPr/>
          </p:nvGrpSpPr>
          <p:grpSpPr>
            <a:xfrm>
              <a:off x="6029326" y="1237642"/>
              <a:ext cx="5447747" cy="3305784"/>
              <a:chOff x="6029326" y="1237642"/>
              <a:chExt cx="5447747" cy="3305784"/>
            </a:xfrm>
          </p:grpSpPr>
          <p:pic>
            <p:nvPicPr>
              <p:cNvPr id="202" name="Google Shape;223;p30" descr="Imagen que contiene Tabla&#10;&#10;Descripción generada automáticamente">
                <a:extLst>
                  <a:ext uri="{FF2B5EF4-FFF2-40B4-BE49-F238E27FC236}">
                    <a16:creationId xmlns:a16="http://schemas.microsoft.com/office/drawing/2014/main" id="{7DBCFE77-3750-47DC-A820-07C441DB4668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029326" y="2947988"/>
                <a:ext cx="5409648" cy="159543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3" name="Google Shape;224;p30">
                <a:extLst>
                  <a:ext uri="{FF2B5EF4-FFF2-40B4-BE49-F238E27FC236}">
                    <a16:creationId xmlns:a16="http://schemas.microsoft.com/office/drawing/2014/main" id="{4156E8F6-5AAA-4715-803A-873C3270EB53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 t="1" b="22856"/>
              <a:stretch/>
            </p:blipFill>
            <p:spPr>
              <a:xfrm>
                <a:off x="6067425" y="1237642"/>
                <a:ext cx="5409648" cy="20063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84" name="Google Shape;93;p1" descr="Diagrama&#10;&#10;Descripción generada automáticamente">
            <a:extLst>
              <a:ext uri="{FF2B5EF4-FFF2-40B4-BE49-F238E27FC236}">
                <a16:creationId xmlns:a16="http://schemas.microsoft.com/office/drawing/2014/main" id="{D4CB733C-19FC-40FA-A7F3-279F63C8A42D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894238" y="4594640"/>
            <a:ext cx="9201222" cy="620294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161375" y="301825"/>
            <a:ext cx="29892000" cy="42340800"/>
          </a:xfrm>
          <a:prstGeom prst="rect">
            <a:avLst/>
          </a:prstGeom>
          <a:noFill/>
          <a:ln w="76200" cap="flat" cmpd="sng">
            <a:solidFill>
              <a:srgbClr val="6AA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0525125" y="19640550"/>
            <a:ext cx="1066800" cy="1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5069650" y="590950"/>
            <a:ext cx="209913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0" b="1" dirty="0"/>
              <a:t>ANÁLISIS MORFOMÉTRICO DE ABANICOS Y CUENCAS TORRENCIALES EN LOS ANDES DEL NORTE</a:t>
            </a:r>
            <a:endParaRPr sz="6000" b="1" dirty="0"/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204999" y="447838"/>
            <a:ext cx="3410125" cy="374534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5660363" y="2656675"/>
            <a:ext cx="19485300" cy="2030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" marR="12700" lvl="0" indent="0" algn="ctr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" sz="3800" dirty="0">
                <a:solidFill>
                  <a:schemeClr val="dk1"/>
                </a:solidFill>
                <a:highlight>
                  <a:srgbClr val="FFFFFF"/>
                </a:highlight>
              </a:rPr>
              <a:t>Emanuel Castillo</a:t>
            </a:r>
            <a:r>
              <a:rPr lang="es" sz="3000" b="1" baseline="30000" dirty="0">
                <a:solidFill>
                  <a:schemeClr val="dk1"/>
                </a:solidFill>
                <a:highlight>
                  <a:schemeClr val="lt1"/>
                </a:highlight>
              </a:rPr>
              <a:t>1  </a:t>
            </a:r>
            <a:r>
              <a:rPr lang="es" sz="3800" dirty="0">
                <a:solidFill>
                  <a:schemeClr val="dk1"/>
                </a:solidFill>
                <a:highlight>
                  <a:srgbClr val="FFFFFF"/>
                </a:highlight>
              </a:rPr>
              <a:t>Edier Aristizábal</a:t>
            </a:r>
            <a:r>
              <a:rPr lang="es" sz="3000" baseline="30000" dirty="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es" sz="3800" dirty="0">
                <a:solidFill>
                  <a:schemeClr val="dk1"/>
                </a:solidFill>
                <a:highlight>
                  <a:srgbClr val="FFFFFF"/>
                </a:highlight>
              </a:rPr>
              <a:t>, Diego Rendón</a:t>
            </a:r>
            <a:r>
              <a:rPr lang="es" sz="3000" b="1" baseline="30000" dirty="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es" sz="3800" dirty="0">
                <a:solidFill>
                  <a:schemeClr val="dk1"/>
                </a:solidFill>
                <a:highlight>
                  <a:srgbClr val="FFFFFF"/>
                </a:highlight>
              </a:rPr>
              <a:t>, Edwin Ortiz</a:t>
            </a:r>
            <a:r>
              <a:rPr lang="es" sz="3000" b="1" baseline="30000" dirty="0">
                <a:solidFill>
                  <a:schemeClr val="dk1"/>
                </a:solidFill>
                <a:highlight>
                  <a:schemeClr val="lt1"/>
                </a:highlight>
              </a:rPr>
              <a:t>1</a:t>
            </a:r>
            <a:r>
              <a:rPr lang="es" sz="3800" dirty="0">
                <a:solidFill>
                  <a:schemeClr val="dk1"/>
                </a:solidFill>
                <a:highlight>
                  <a:srgbClr val="FFFFFF"/>
                </a:highlight>
              </a:rPr>
              <a:t>, </a:t>
            </a:r>
          </a:p>
          <a:p>
            <a:pPr marL="12700" marR="12700" lvl="0" indent="0" algn="ctr" rtl="0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s" sz="3000" b="1" baseline="30000" dirty="0">
                <a:solidFill>
                  <a:schemeClr val="dk1"/>
                </a:solidFill>
                <a:highlight>
                  <a:srgbClr val="FFFFFF"/>
                </a:highlight>
              </a:rPr>
              <a:t>1</a:t>
            </a:r>
            <a:r>
              <a:rPr lang="es" sz="3000" b="1" dirty="0">
                <a:solidFill>
                  <a:schemeClr val="dk1"/>
                </a:solidFill>
                <a:highlight>
                  <a:srgbClr val="FFFFFF"/>
                </a:highlight>
              </a:rPr>
              <a:t>Departamento de Geociencias y Medio Ambiente, Universidad Nacional de Colombia Sede Medellín</a:t>
            </a:r>
            <a:endParaRPr sz="3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 dirty="0"/>
          </a:p>
        </p:txBody>
      </p:sp>
      <p:sp>
        <p:nvSpPr>
          <p:cNvPr id="68" name="Google Shape;68;p13"/>
          <p:cNvSpPr txBox="1"/>
          <p:nvPr/>
        </p:nvSpPr>
        <p:spPr>
          <a:xfrm>
            <a:off x="459000" y="4207429"/>
            <a:ext cx="7769100" cy="6257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 dirty="0"/>
              <a:t>ÁREA DE ESTUDIO</a:t>
            </a:r>
            <a:endParaRPr sz="3000" b="1" dirty="0"/>
          </a:p>
        </p:txBody>
      </p:sp>
      <p:sp>
        <p:nvSpPr>
          <p:cNvPr id="69" name="Google Shape;69;p13"/>
          <p:cNvSpPr txBox="1"/>
          <p:nvPr/>
        </p:nvSpPr>
        <p:spPr>
          <a:xfrm>
            <a:off x="714550" y="22765175"/>
            <a:ext cx="5457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8629800" y="4246424"/>
            <a:ext cx="21144903" cy="571741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 dirty="0">
                <a:solidFill>
                  <a:schemeClr val="dk1"/>
                </a:solidFill>
              </a:rPr>
              <a:t>RESUMEN</a:t>
            </a: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14820070" y="39631700"/>
            <a:ext cx="15145480" cy="6465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/>
              <a:t>References</a:t>
            </a:r>
            <a:endParaRPr sz="3000" b="1"/>
          </a:p>
        </p:txBody>
      </p:sp>
      <p:sp>
        <p:nvSpPr>
          <p:cNvPr id="74" name="Google Shape;74;p13"/>
          <p:cNvSpPr txBox="1"/>
          <p:nvPr/>
        </p:nvSpPr>
        <p:spPr>
          <a:xfrm>
            <a:off x="14575886" y="40122700"/>
            <a:ext cx="15374374" cy="2568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Arango, M., </a:t>
            </a:r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Aristizábal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., </a:t>
            </a:r>
            <a:r>
              <a:rPr lang="es-CO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Gomez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(2020).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Morphometrical analysis of torrential flows‑prone catchments in tropical and mountainous terrain of the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Colombian Andes by machine learning techniques:. </a:t>
            </a:r>
            <a:r>
              <a:rPr lang="es-CO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Natural </a:t>
            </a:r>
            <a:r>
              <a:rPr lang="es-CO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Hazards</a:t>
            </a:r>
            <a:r>
              <a:rPr lang="es-CO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(2021) 105:983–1012.  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Grelle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G; Rossi, A;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Revellino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P. Assessment of Debris-Flow Erosion and Deposit areas by Morphometric Analysis and a GIS-Based Simplified Procedure: A Case Study of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Paupisi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 the Southern Apennines. Sustainability 2019, 11, 2382; doi:10.3390/su11082382. 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Horton RF (1955) Erosional development of streams and their drainage basins,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hydrophysical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approach to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quantitive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morphology. J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Jpn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For Soc 37(2):79–82.</a:t>
            </a:r>
            <a:r>
              <a:rPr lang="es-CO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Parra, M., Mora, A., </a:t>
            </a:r>
            <a:r>
              <a:rPr lang="es-CO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Lopez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C., Rojas, L. E., &amp; Horton, B. K. (2012).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Detecting earliest shortening and deformation advance in thrust belt hinterlands: Example from the Colombian Andes. </a:t>
            </a:r>
            <a:r>
              <a:rPr lang="es-CO" sz="1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Geology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s-CO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(2), 175–178.  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Strahler AN (1952) Hypsometric (area-altitude) analysis of erosional topography. Bull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Geol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Soc Am 63(11):1117–1142.  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Welsh, A; Davies, T. Identification of alluvial fans susceptible to debris-flow hazards. </a:t>
            </a:r>
            <a:r>
              <a:rPr lang="es-CO" sz="1800" dirty="0" err="1"/>
              <a:t>Landslides</a:t>
            </a:r>
            <a:r>
              <a:rPr lang="es-CO" sz="1800" dirty="0"/>
              <a:t> (2011) 8:183–194</a:t>
            </a:r>
            <a:endParaRPr sz="1700" dirty="0">
              <a:solidFill>
                <a:schemeClr val="dk1"/>
              </a:solidFill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00750" y="13871507"/>
            <a:ext cx="29205600" cy="6465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 dirty="0"/>
              <a:t>ABANICOS Y CUENCAS EN LOS ANDES DEL NORTE</a:t>
            </a:r>
            <a:endParaRPr sz="3000" b="1" dirty="0"/>
          </a:p>
        </p:txBody>
      </p:sp>
      <p:sp>
        <p:nvSpPr>
          <p:cNvPr id="84" name="Google Shape;84;p13"/>
          <p:cNvSpPr txBox="1"/>
          <p:nvPr/>
        </p:nvSpPr>
        <p:spPr>
          <a:xfrm>
            <a:off x="7596900" y="18502650"/>
            <a:ext cx="255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62900" y="40306525"/>
            <a:ext cx="13819871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Se observan altas correlaciones en las cuencas y abanicos de los andes del norte para  las variables de pendiente del abanico con el índice de Melton, pendiente del canal de la cuenca y relieve relativo.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s-ES" sz="2000" dirty="0"/>
          </a:p>
          <a:p>
            <a:pPr marL="101600" lvl="0" algn="just" rtl="0">
              <a:spcBef>
                <a:spcPts val="0"/>
              </a:spcBef>
              <a:spcAft>
                <a:spcPts val="0"/>
              </a:spcAft>
              <a:buSzPts val="2000"/>
            </a:pPr>
            <a:endParaRPr lang="es-ES" sz="2000" dirty="0"/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 dirty="0"/>
              <a:t>El análisis morfométrico y estadístico de abanicos y cuencas es una buena herramienta de apoyo como estudios preliminares, sin embargo son necesarios diferentes estudios para el conocimiento y reducción del riesgo sobre estas geoformas </a:t>
            </a:r>
            <a:r>
              <a:rPr lang="es-ES" sz="2000" dirty="0" err="1"/>
              <a:t>depositacionales</a:t>
            </a:r>
            <a:r>
              <a:rPr lang="es-ES" sz="2000" dirty="0"/>
              <a:t>.</a:t>
            </a:r>
          </a:p>
          <a:p>
            <a:pPr marL="457200" lvl="0" indent="-355600" algn="just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endParaRPr lang="es-CO" sz="2000" dirty="0"/>
          </a:p>
        </p:txBody>
      </p:sp>
      <p:cxnSp>
        <p:nvCxnSpPr>
          <p:cNvPr id="86" name="Google Shape;86;p13"/>
          <p:cNvCxnSpPr>
            <a:cxnSpLocks/>
          </p:cNvCxnSpPr>
          <p:nvPr/>
        </p:nvCxnSpPr>
        <p:spPr>
          <a:xfrm flipH="1">
            <a:off x="8309162" y="4792285"/>
            <a:ext cx="27560" cy="8588944"/>
          </a:xfrm>
          <a:prstGeom prst="straightConnector1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" name="Google Shape;91;p13"/>
          <p:cNvSpPr/>
          <p:nvPr/>
        </p:nvSpPr>
        <p:spPr>
          <a:xfrm>
            <a:off x="10525125" y="19640550"/>
            <a:ext cx="1066800" cy="1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9874875" y="22677550"/>
            <a:ext cx="1066800" cy="1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440850" y="39617025"/>
            <a:ext cx="13841921" cy="6465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 dirty="0"/>
              <a:t>CONCLUSIONES</a:t>
            </a:r>
            <a:endParaRPr sz="3000" b="1"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7AD0003-9E35-4E4D-B124-FC799A671340}"/>
              </a:ext>
            </a:extLst>
          </p:cNvPr>
          <p:cNvGrpSpPr/>
          <p:nvPr/>
        </p:nvGrpSpPr>
        <p:grpSpPr>
          <a:xfrm>
            <a:off x="761930" y="4877676"/>
            <a:ext cx="10279695" cy="8566103"/>
            <a:chOff x="1322681" y="8867153"/>
            <a:chExt cx="7426923" cy="5802271"/>
          </a:xfrm>
        </p:grpSpPr>
        <p:pic>
          <p:nvPicPr>
            <p:cNvPr id="158" name="Google Shape;127;p21" descr="Mapa&#10;&#10;Descripción generada automáticamente">
              <a:extLst>
                <a:ext uri="{FF2B5EF4-FFF2-40B4-BE49-F238E27FC236}">
                  <a16:creationId xmlns:a16="http://schemas.microsoft.com/office/drawing/2014/main" id="{9887DE55-ADB2-4703-9B49-179CC9D71FD9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1389728" y="8867153"/>
              <a:ext cx="4992837" cy="57656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28;p21">
              <a:extLst>
                <a:ext uri="{FF2B5EF4-FFF2-40B4-BE49-F238E27FC236}">
                  <a16:creationId xmlns:a16="http://schemas.microsoft.com/office/drawing/2014/main" id="{73C4637B-7AAB-4175-8026-36B926BA009F}"/>
                </a:ext>
              </a:extLst>
            </p:cNvPr>
            <p:cNvSpPr txBox="1"/>
            <p:nvPr/>
          </p:nvSpPr>
          <p:spPr>
            <a:xfrm>
              <a:off x="3100512" y="10320439"/>
              <a:ext cx="1158708" cy="354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4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Cordillera</a:t>
              </a:r>
              <a:r>
                <a:rPr lang="es-CO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4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Occidental</a:t>
              </a:r>
              <a:endParaRPr b="1" dirty="0"/>
            </a:p>
          </p:txBody>
        </p:sp>
        <p:sp>
          <p:nvSpPr>
            <p:cNvPr id="160" name="Google Shape;129;p21">
              <a:extLst>
                <a:ext uri="{FF2B5EF4-FFF2-40B4-BE49-F238E27FC236}">
                  <a16:creationId xmlns:a16="http://schemas.microsoft.com/office/drawing/2014/main" id="{5E7E7F1B-7343-4F48-95DA-6699C4F2F092}"/>
                </a:ext>
              </a:extLst>
            </p:cNvPr>
            <p:cNvSpPr txBox="1"/>
            <p:nvPr/>
          </p:nvSpPr>
          <p:spPr>
            <a:xfrm>
              <a:off x="4339108" y="11104501"/>
              <a:ext cx="1009756" cy="3543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40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Cordillera</a:t>
              </a:r>
              <a:r>
                <a:rPr lang="es-CO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dirty="0"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400" b="1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Centrall</a:t>
              </a:r>
              <a:endParaRPr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30;p21">
              <a:extLst>
                <a:ext uri="{FF2B5EF4-FFF2-40B4-BE49-F238E27FC236}">
                  <a16:creationId xmlns:a16="http://schemas.microsoft.com/office/drawing/2014/main" id="{687F8A9A-5C2C-4BC5-8852-60F4D7747C87}"/>
                </a:ext>
              </a:extLst>
            </p:cNvPr>
            <p:cNvSpPr txBox="1"/>
            <p:nvPr/>
          </p:nvSpPr>
          <p:spPr>
            <a:xfrm rot="16200000">
              <a:off x="3085259" y="12400988"/>
              <a:ext cx="849358" cy="1834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05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Río</a:t>
              </a:r>
              <a:r>
                <a:rPr lang="es-CO" sz="105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-CO" sz="105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Cauca</a:t>
              </a:r>
              <a:r>
                <a:rPr lang="es-CO" sz="105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dirty="0"/>
            </a:p>
          </p:txBody>
        </p:sp>
        <p:sp>
          <p:nvSpPr>
            <p:cNvPr id="162" name="Google Shape;131;p21">
              <a:extLst>
                <a:ext uri="{FF2B5EF4-FFF2-40B4-BE49-F238E27FC236}">
                  <a16:creationId xmlns:a16="http://schemas.microsoft.com/office/drawing/2014/main" id="{693AD524-739D-415C-9CA8-62F94E70805F}"/>
                </a:ext>
              </a:extLst>
            </p:cNvPr>
            <p:cNvSpPr txBox="1"/>
            <p:nvPr/>
          </p:nvSpPr>
          <p:spPr>
            <a:xfrm rot="19074902">
              <a:off x="4193412" y="12243546"/>
              <a:ext cx="767973" cy="1719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05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Río</a:t>
              </a:r>
              <a:r>
                <a:rPr lang="es-CO" sz="105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-CO" sz="105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Porce</a:t>
              </a:r>
              <a:endParaRPr b="1" dirty="0"/>
            </a:p>
          </p:txBody>
        </p:sp>
        <p:sp>
          <p:nvSpPr>
            <p:cNvPr id="163" name="Google Shape;132;p21">
              <a:extLst>
                <a:ext uri="{FF2B5EF4-FFF2-40B4-BE49-F238E27FC236}">
                  <a16:creationId xmlns:a16="http://schemas.microsoft.com/office/drawing/2014/main" id="{92800401-1DA9-421A-B95D-59ADAB69B30A}"/>
                </a:ext>
              </a:extLst>
            </p:cNvPr>
            <p:cNvSpPr txBox="1"/>
            <p:nvPr/>
          </p:nvSpPr>
          <p:spPr>
            <a:xfrm rot="16734805">
              <a:off x="5394415" y="13146810"/>
              <a:ext cx="1088705" cy="1834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05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Río</a:t>
              </a:r>
              <a:r>
                <a:rPr lang="es-CO" sz="105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-CO" sz="105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Magdalena</a:t>
              </a:r>
              <a:endParaRPr b="1" dirty="0"/>
            </a:p>
          </p:txBody>
        </p:sp>
        <p:sp>
          <p:nvSpPr>
            <p:cNvPr id="164" name="Google Shape;133;p21">
              <a:extLst>
                <a:ext uri="{FF2B5EF4-FFF2-40B4-BE49-F238E27FC236}">
                  <a16:creationId xmlns:a16="http://schemas.microsoft.com/office/drawing/2014/main" id="{EC9E3BC2-85C5-4387-B5E6-B1AD823CB484}"/>
                </a:ext>
              </a:extLst>
            </p:cNvPr>
            <p:cNvSpPr txBox="1"/>
            <p:nvPr/>
          </p:nvSpPr>
          <p:spPr>
            <a:xfrm rot="15782854">
              <a:off x="1622469" y="12368658"/>
              <a:ext cx="781284" cy="1834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05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Río</a:t>
              </a:r>
              <a:r>
                <a:rPr lang="es-CO" sz="105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s-CO" sz="105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Atrato</a:t>
              </a:r>
              <a:endParaRPr b="1" dirty="0"/>
            </a:p>
          </p:txBody>
        </p:sp>
        <p:pic>
          <p:nvPicPr>
            <p:cNvPr id="165" name="Google Shape;134;p21" descr="Mapa&#10;&#10;Descripción generada automáticamente">
              <a:extLst>
                <a:ext uri="{FF2B5EF4-FFF2-40B4-BE49-F238E27FC236}">
                  <a16:creationId xmlns:a16="http://schemas.microsoft.com/office/drawing/2014/main" id="{24D27409-DF1E-4A46-9996-B325706CFFC8}"/>
                </a:ext>
              </a:extLst>
            </p:cNvPr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424366" y="9030868"/>
              <a:ext cx="1158835" cy="12724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35;p21">
              <a:extLst>
                <a:ext uri="{FF2B5EF4-FFF2-40B4-BE49-F238E27FC236}">
                  <a16:creationId xmlns:a16="http://schemas.microsoft.com/office/drawing/2014/main" id="{DEAA6F63-4FBD-4B40-984B-6E4F9EC92D4E}"/>
                </a:ext>
              </a:extLst>
            </p:cNvPr>
            <p:cNvSpPr txBox="1"/>
            <p:nvPr/>
          </p:nvSpPr>
          <p:spPr>
            <a:xfrm flipH="1">
              <a:off x="1895237" y="9040753"/>
              <a:ext cx="2823910" cy="2768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77°W</a:t>
              </a:r>
              <a:endParaRPr dirty="0"/>
            </a:p>
          </p:txBody>
        </p:sp>
        <p:cxnSp>
          <p:nvCxnSpPr>
            <p:cNvPr id="167" name="Google Shape;136;p21">
              <a:extLst>
                <a:ext uri="{FF2B5EF4-FFF2-40B4-BE49-F238E27FC236}">
                  <a16:creationId xmlns:a16="http://schemas.microsoft.com/office/drawing/2014/main" id="{AEA9D756-7096-4C73-8785-7E8B09E6CCD6}"/>
                </a:ext>
              </a:extLst>
            </p:cNvPr>
            <p:cNvCxnSpPr/>
            <p:nvPr/>
          </p:nvCxnSpPr>
          <p:spPr>
            <a:xfrm rot="10800000">
              <a:off x="2100560" y="8885783"/>
              <a:ext cx="0" cy="14508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8" name="Google Shape;137;p21">
              <a:extLst>
                <a:ext uri="{FF2B5EF4-FFF2-40B4-BE49-F238E27FC236}">
                  <a16:creationId xmlns:a16="http://schemas.microsoft.com/office/drawing/2014/main" id="{91DFDD20-1C41-477B-A65D-B37A612086AE}"/>
                </a:ext>
              </a:extLst>
            </p:cNvPr>
            <p:cNvSpPr txBox="1"/>
            <p:nvPr/>
          </p:nvSpPr>
          <p:spPr>
            <a:xfrm flipH="1">
              <a:off x="5411830" y="9003103"/>
              <a:ext cx="2823910" cy="2768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75°W</a:t>
              </a:r>
              <a:endParaRPr dirty="0"/>
            </a:p>
          </p:txBody>
        </p:sp>
        <p:cxnSp>
          <p:nvCxnSpPr>
            <p:cNvPr id="169" name="Google Shape;138;p21">
              <a:extLst>
                <a:ext uri="{FF2B5EF4-FFF2-40B4-BE49-F238E27FC236}">
                  <a16:creationId xmlns:a16="http://schemas.microsoft.com/office/drawing/2014/main" id="{3F8D7604-8FC4-401E-8543-5E5612C05C1B}"/>
                </a:ext>
              </a:extLst>
            </p:cNvPr>
            <p:cNvCxnSpPr/>
            <p:nvPr/>
          </p:nvCxnSpPr>
          <p:spPr>
            <a:xfrm rot="10800000">
              <a:off x="5617153" y="8876370"/>
              <a:ext cx="0" cy="145086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0" name="Google Shape;139;p21">
              <a:extLst>
                <a:ext uri="{FF2B5EF4-FFF2-40B4-BE49-F238E27FC236}">
                  <a16:creationId xmlns:a16="http://schemas.microsoft.com/office/drawing/2014/main" id="{A5ABE77F-F4D6-4532-AEEC-CF98D2187877}"/>
                </a:ext>
              </a:extLst>
            </p:cNvPr>
            <p:cNvSpPr txBox="1"/>
            <p:nvPr/>
          </p:nvSpPr>
          <p:spPr>
            <a:xfrm flipH="1">
              <a:off x="5900501" y="10992805"/>
              <a:ext cx="2823910" cy="2768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7°N</a:t>
              </a:r>
              <a:endParaRPr dirty="0"/>
            </a:p>
          </p:txBody>
        </p:sp>
        <p:cxnSp>
          <p:nvCxnSpPr>
            <p:cNvPr id="171" name="Google Shape;140;p21">
              <a:extLst>
                <a:ext uri="{FF2B5EF4-FFF2-40B4-BE49-F238E27FC236}">
                  <a16:creationId xmlns:a16="http://schemas.microsoft.com/office/drawing/2014/main" id="{7952B05E-8B30-4EE9-A036-6EB913EF0184}"/>
                </a:ext>
              </a:extLst>
            </p:cNvPr>
            <p:cNvCxnSpPr>
              <a:cxnSpLocks/>
            </p:cNvCxnSpPr>
            <p:nvPr/>
          </p:nvCxnSpPr>
          <p:spPr>
            <a:xfrm>
              <a:off x="6209236" y="11079249"/>
              <a:ext cx="135302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2" name="Google Shape;142;p21">
              <a:extLst>
                <a:ext uri="{FF2B5EF4-FFF2-40B4-BE49-F238E27FC236}">
                  <a16:creationId xmlns:a16="http://schemas.microsoft.com/office/drawing/2014/main" id="{CD59C13F-EC54-4628-88A9-F6B99F751EF4}"/>
                </a:ext>
              </a:extLst>
            </p:cNvPr>
            <p:cNvSpPr txBox="1"/>
            <p:nvPr/>
          </p:nvSpPr>
          <p:spPr>
            <a:xfrm>
              <a:off x="1322681" y="9413377"/>
              <a:ext cx="709797" cy="400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Colombia</a:t>
              </a:r>
              <a:endParaRPr dirty="0"/>
            </a:p>
          </p:txBody>
        </p:sp>
        <p:sp>
          <p:nvSpPr>
            <p:cNvPr id="173" name="Google Shape;143;p21">
              <a:extLst>
                <a:ext uri="{FF2B5EF4-FFF2-40B4-BE49-F238E27FC236}">
                  <a16:creationId xmlns:a16="http://schemas.microsoft.com/office/drawing/2014/main" id="{B65433BE-A5E0-4200-8E9B-109B589846A5}"/>
                </a:ext>
              </a:extLst>
            </p:cNvPr>
            <p:cNvSpPr txBox="1"/>
            <p:nvPr/>
          </p:nvSpPr>
          <p:spPr>
            <a:xfrm>
              <a:off x="1975012" y="9667114"/>
              <a:ext cx="494742" cy="400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Brazil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44;p21">
              <a:extLst>
                <a:ext uri="{FF2B5EF4-FFF2-40B4-BE49-F238E27FC236}">
                  <a16:creationId xmlns:a16="http://schemas.microsoft.com/office/drawing/2014/main" id="{AC08ADED-11D9-40E6-8E28-69DCA9B60F57}"/>
                </a:ext>
              </a:extLst>
            </p:cNvPr>
            <p:cNvSpPr txBox="1"/>
            <p:nvPr/>
          </p:nvSpPr>
          <p:spPr>
            <a:xfrm flipH="1">
              <a:off x="5925694" y="14183449"/>
              <a:ext cx="2823910" cy="2768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5°N</a:t>
              </a:r>
              <a:endParaRPr dirty="0"/>
            </a:p>
          </p:txBody>
        </p:sp>
        <p:cxnSp>
          <p:nvCxnSpPr>
            <p:cNvPr id="175" name="Google Shape;145;p21">
              <a:extLst>
                <a:ext uri="{FF2B5EF4-FFF2-40B4-BE49-F238E27FC236}">
                  <a16:creationId xmlns:a16="http://schemas.microsoft.com/office/drawing/2014/main" id="{430FC961-DFE6-44A2-8103-2A960669A6D4}"/>
                </a:ext>
              </a:extLst>
            </p:cNvPr>
            <p:cNvCxnSpPr>
              <a:cxnSpLocks/>
            </p:cNvCxnSpPr>
            <p:nvPr/>
          </p:nvCxnSpPr>
          <p:spPr>
            <a:xfrm>
              <a:off x="6201370" y="14263000"/>
              <a:ext cx="135303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6" name="Google Shape;146;p21">
              <a:extLst>
                <a:ext uri="{FF2B5EF4-FFF2-40B4-BE49-F238E27FC236}">
                  <a16:creationId xmlns:a16="http://schemas.microsoft.com/office/drawing/2014/main" id="{5E4E2A20-C6FF-40C4-9D01-E21AA5C88913}"/>
                </a:ext>
              </a:extLst>
            </p:cNvPr>
            <p:cNvSpPr/>
            <p:nvPr/>
          </p:nvSpPr>
          <p:spPr>
            <a:xfrm>
              <a:off x="5856684" y="9015164"/>
              <a:ext cx="298491" cy="442392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47;p21">
              <a:extLst>
                <a:ext uri="{FF2B5EF4-FFF2-40B4-BE49-F238E27FC236}">
                  <a16:creationId xmlns:a16="http://schemas.microsoft.com/office/drawing/2014/main" id="{29CB0F2D-0D85-4F18-8A5A-B00ADF95EDFC}"/>
                </a:ext>
              </a:extLst>
            </p:cNvPr>
            <p:cNvSpPr/>
            <p:nvPr/>
          </p:nvSpPr>
          <p:spPr>
            <a:xfrm>
              <a:off x="3974771" y="14366181"/>
              <a:ext cx="904800" cy="85364"/>
            </a:xfrm>
            <a:prstGeom prst="rect">
              <a:avLst/>
            </a:prstGeom>
            <a:solidFill>
              <a:schemeClr val="dk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48;p21">
              <a:extLst>
                <a:ext uri="{FF2B5EF4-FFF2-40B4-BE49-F238E27FC236}">
                  <a16:creationId xmlns:a16="http://schemas.microsoft.com/office/drawing/2014/main" id="{94292244-D306-42C0-A448-5A5F43155B83}"/>
                </a:ext>
              </a:extLst>
            </p:cNvPr>
            <p:cNvSpPr/>
            <p:nvPr/>
          </p:nvSpPr>
          <p:spPr>
            <a:xfrm>
              <a:off x="4879571" y="14366181"/>
              <a:ext cx="904800" cy="85364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49;p21">
              <a:extLst>
                <a:ext uri="{FF2B5EF4-FFF2-40B4-BE49-F238E27FC236}">
                  <a16:creationId xmlns:a16="http://schemas.microsoft.com/office/drawing/2014/main" id="{B8E448D0-2529-4F78-BEB3-4AAD10E8034C}"/>
                </a:ext>
              </a:extLst>
            </p:cNvPr>
            <p:cNvSpPr txBox="1"/>
            <p:nvPr/>
          </p:nvSpPr>
          <p:spPr>
            <a:xfrm>
              <a:off x="3867693" y="14415358"/>
              <a:ext cx="2422592" cy="2540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050" b="1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                      50                 100 (km)</a:t>
              </a:r>
              <a:endParaRPr dirty="0"/>
            </a:p>
          </p:txBody>
        </p:sp>
      </p:grpSp>
      <p:sp>
        <p:nvSpPr>
          <p:cNvPr id="180" name="Google Shape;141;p21">
            <a:extLst>
              <a:ext uri="{FF2B5EF4-FFF2-40B4-BE49-F238E27FC236}">
                <a16:creationId xmlns:a16="http://schemas.microsoft.com/office/drawing/2014/main" id="{423C645F-4F7D-4DF8-A541-0BF91E8A702E}"/>
              </a:ext>
            </a:extLst>
          </p:cNvPr>
          <p:cNvSpPr/>
          <p:nvPr/>
        </p:nvSpPr>
        <p:spPr>
          <a:xfrm>
            <a:off x="1169666" y="6612383"/>
            <a:ext cx="171095" cy="191951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12;p13">
            <a:extLst>
              <a:ext uri="{FF2B5EF4-FFF2-40B4-BE49-F238E27FC236}">
                <a16:creationId xmlns:a16="http://schemas.microsoft.com/office/drawing/2014/main" id="{35B53163-99DB-426B-B030-0FCD7B03A67E}"/>
              </a:ext>
            </a:extLst>
          </p:cNvPr>
          <p:cNvSpPr txBox="1"/>
          <p:nvPr/>
        </p:nvSpPr>
        <p:spPr>
          <a:xfrm>
            <a:off x="2566424" y="13287029"/>
            <a:ext cx="41910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dirty="0"/>
              <a:t>Fig 1.</a:t>
            </a:r>
            <a:r>
              <a:rPr lang="es" sz="1600" dirty="0"/>
              <a:t> </a:t>
            </a:r>
            <a:r>
              <a:rPr lang="es" sz="2500" dirty="0">
                <a:solidFill>
                  <a:schemeClr val="dk1"/>
                </a:solidFill>
              </a:rPr>
              <a:t>Zona de estudio</a:t>
            </a:r>
            <a:endParaRPr sz="1600" dirty="0"/>
          </a:p>
        </p:txBody>
      </p:sp>
      <p:sp>
        <p:nvSpPr>
          <p:cNvPr id="186" name="Google Shape;112;p13">
            <a:extLst>
              <a:ext uri="{FF2B5EF4-FFF2-40B4-BE49-F238E27FC236}">
                <a16:creationId xmlns:a16="http://schemas.microsoft.com/office/drawing/2014/main" id="{2DDEDBA7-8DD8-4B84-93BA-618AA68B42E8}"/>
              </a:ext>
            </a:extLst>
          </p:cNvPr>
          <p:cNvSpPr txBox="1"/>
          <p:nvPr/>
        </p:nvSpPr>
        <p:spPr>
          <a:xfrm>
            <a:off x="26923950" y="9198548"/>
            <a:ext cx="4191000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dirty="0"/>
              <a:t>Fig 2.</a:t>
            </a:r>
            <a:r>
              <a:rPr lang="es" sz="1600" dirty="0"/>
              <a:t> </a:t>
            </a:r>
            <a:r>
              <a:rPr lang="es" sz="2500" dirty="0">
                <a:solidFill>
                  <a:schemeClr val="dk1"/>
                </a:solidFill>
              </a:rPr>
              <a:t>Morfometía de abanicos y cuencas</a:t>
            </a:r>
            <a:endParaRPr sz="1600" dirty="0"/>
          </a:p>
        </p:txBody>
      </p:sp>
      <p:sp>
        <p:nvSpPr>
          <p:cNvPr id="187" name="Google Shape;112;p13">
            <a:extLst>
              <a:ext uri="{FF2B5EF4-FFF2-40B4-BE49-F238E27FC236}">
                <a16:creationId xmlns:a16="http://schemas.microsoft.com/office/drawing/2014/main" id="{7BF3AE6B-48E7-4890-9C29-F503CCD2D31D}"/>
              </a:ext>
            </a:extLst>
          </p:cNvPr>
          <p:cNvSpPr txBox="1"/>
          <p:nvPr/>
        </p:nvSpPr>
        <p:spPr>
          <a:xfrm>
            <a:off x="13739283" y="13033622"/>
            <a:ext cx="41910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dirty="0"/>
              <a:t>Fig 3.</a:t>
            </a:r>
            <a:r>
              <a:rPr lang="es" sz="1600" dirty="0"/>
              <a:t> </a:t>
            </a:r>
            <a:r>
              <a:rPr lang="es" sz="2500" dirty="0">
                <a:solidFill>
                  <a:schemeClr val="dk1"/>
                </a:solidFill>
              </a:rPr>
              <a:t>Metodología</a:t>
            </a:r>
            <a:endParaRPr sz="1600" dirty="0"/>
          </a:p>
        </p:txBody>
      </p:sp>
      <p:sp>
        <p:nvSpPr>
          <p:cNvPr id="71" name="Google Shape;71;p13"/>
          <p:cNvSpPr txBox="1"/>
          <p:nvPr/>
        </p:nvSpPr>
        <p:spPr>
          <a:xfrm>
            <a:off x="8564090" y="10295074"/>
            <a:ext cx="13908430" cy="658247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 dirty="0"/>
              <a:t>METODOLOGÍA</a:t>
            </a:r>
            <a:endParaRPr sz="3000" b="1" dirty="0"/>
          </a:p>
        </p:txBody>
      </p:sp>
      <p:sp>
        <p:nvSpPr>
          <p:cNvPr id="188" name="CuadroTexto 187">
            <a:extLst>
              <a:ext uri="{FF2B5EF4-FFF2-40B4-BE49-F238E27FC236}">
                <a16:creationId xmlns:a16="http://schemas.microsoft.com/office/drawing/2014/main" id="{F0736309-8908-4735-9B8F-3FA925311A01}"/>
              </a:ext>
            </a:extLst>
          </p:cNvPr>
          <p:cNvSpPr txBox="1"/>
          <p:nvPr/>
        </p:nvSpPr>
        <p:spPr>
          <a:xfrm>
            <a:off x="8716490" y="4988512"/>
            <a:ext cx="1122964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los Andes del norte colombianos muchos poblados urbanos y rurales se establecen y desarrollan en zonas de acumulación de sedimentos (abanicos) donde materiales son arrastrados por fuertes corrientes durante eventos </a:t>
            </a:r>
            <a:r>
              <a:rPr lang="es-ES" sz="3200" b="0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fluvio</a:t>
            </a:r>
            <a:r>
              <a:rPr lang="es-ES" sz="3200" b="0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-torrenciales desde aguas arriba y que se desplazan por cauces de montaña pendientes y estrechos. La caracterización, estudio y entendimiento de las dinámicas que dan origen a los abanicos es un insumo fundamental para la planificación y ordenación del territorio.</a:t>
            </a:r>
            <a:r>
              <a:rPr lang="es-ES" sz="3200" dirty="0">
                <a:solidFill>
                  <a:srgbClr val="222222"/>
                </a:solidFill>
                <a:latin typeface="Calibri"/>
                <a:ea typeface="Times New Roman"/>
                <a:cs typeface="Calibri"/>
                <a:sym typeface="Calibri"/>
              </a:rPr>
              <a:t> </a:t>
            </a:r>
            <a:r>
              <a:rPr lang="es-ES" sz="3200" b="0" i="0" u="none" strike="noStrike" cap="none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variables morfométricas de abanicos y cuencas tienen patrones que puedan ser claves para el análisis de estos procesos </a:t>
            </a:r>
            <a:r>
              <a:rPr lang="es-ES" sz="3200" b="0" i="0" u="none" strike="noStrike" cap="none" dirty="0" err="1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depositacionales</a:t>
            </a:r>
            <a:r>
              <a:rPr lang="es-ES" sz="3200" dirty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lang="es-ES" sz="3200" b="0" i="0" u="none" strike="noStrike" cap="none" dirty="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3200" b="0" i="0" u="none" strike="noStrike" cap="none" dirty="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76;p13">
            <a:extLst>
              <a:ext uri="{FF2B5EF4-FFF2-40B4-BE49-F238E27FC236}">
                <a16:creationId xmlns:a16="http://schemas.microsoft.com/office/drawing/2014/main" id="{1D93E616-B29F-454E-B1E1-3607BC2ADA33}"/>
              </a:ext>
            </a:extLst>
          </p:cNvPr>
          <p:cNvSpPr txBox="1"/>
          <p:nvPr/>
        </p:nvSpPr>
        <p:spPr>
          <a:xfrm>
            <a:off x="492904" y="20857526"/>
            <a:ext cx="7627088" cy="6463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 dirty="0"/>
              <a:t>PARÁMETROS MORFOMÉTRICOS</a:t>
            </a:r>
            <a:endParaRPr sz="3000" b="1" dirty="0"/>
          </a:p>
        </p:txBody>
      </p:sp>
      <p:cxnSp>
        <p:nvCxnSpPr>
          <p:cNvPr id="196" name="Google Shape;86;p13">
            <a:extLst>
              <a:ext uri="{FF2B5EF4-FFF2-40B4-BE49-F238E27FC236}">
                <a16:creationId xmlns:a16="http://schemas.microsoft.com/office/drawing/2014/main" id="{96C04EB3-1D05-4435-AB11-C1F32249A69F}"/>
              </a:ext>
            </a:extLst>
          </p:cNvPr>
          <p:cNvCxnSpPr>
            <a:cxnSpLocks/>
          </p:cNvCxnSpPr>
          <p:nvPr/>
        </p:nvCxnSpPr>
        <p:spPr>
          <a:xfrm flipH="1">
            <a:off x="8214565" y="21601475"/>
            <a:ext cx="43425" cy="17219893"/>
          </a:xfrm>
          <a:prstGeom prst="straightConnector1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7" name="Google Shape;231;p31" descr="Tabla&#10;&#10;Descripción generada automáticamente">
            <a:extLst>
              <a:ext uri="{FF2B5EF4-FFF2-40B4-BE49-F238E27FC236}">
                <a16:creationId xmlns:a16="http://schemas.microsoft.com/office/drawing/2014/main" id="{AA2B0232-6DEB-4142-990D-26D39D330644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35634" y="33747957"/>
            <a:ext cx="7573734" cy="4611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213;p29" descr="Tabla&#10;&#10;Descripción generada automáticamente">
            <a:extLst>
              <a:ext uri="{FF2B5EF4-FFF2-40B4-BE49-F238E27FC236}">
                <a16:creationId xmlns:a16="http://schemas.microsoft.com/office/drawing/2014/main" id="{9C7A7237-4985-4B76-897D-94FA89A5EE1F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51029" y="21960989"/>
            <a:ext cx="7627088" cy="639690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76;p13">
            <a:extLst>
              <a:ext uri="{FF2B5EF4-FFF2-40B4-BE49-F238E27FC236}">
                <a16:creationId xmlns:a16="http://schemas.microsoft.com/office/drawing/2014/main" id="{9ABE1CE7-F167-4B53-9BE5-A1FB63419A87}"/>
              </a:ext>
            </a:extLst>
          </p:cNvPr>
          <p:cNvSpPr txBox="1"/>
          <p:nvPr/>
        </p:nvSpPr>
        <p:spPr>
          <a:xfrm>
            <a:off x="8675774" y="20857525"/>
            <a:ext cx="21132570" cy="6463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 dirty="0"/>
              <a:t>RESULTADOS</a:t>
            </a:r>
            <a:endParaRPr sz="3000" b="1" dirty="0"/>
          </a:p>
        </p:txBody>
      </p:sp>
      <p:sp>
        <p:nvSpPr>
          <p:cNvPr id="206" name="Google Shape;112;p13">
            <a:extLst>
              <a:ext uri="{FF2B5EF4-FFF2-40B4-BE49-F238E27FC236}">
                <a16:creationId xmlns:a16="http://schemas.microsoft.com/office/drawing/2014/main" id="{B951C87D-AFC5-4A71-A7B4-265AF3C8223B}"/>
              </a:ext>
            </a:extLst>
          </p:cNvPr>
          <p:cNvSpPr txBox="1"/>
          <p:nvPr/>
        </p:nvSpPr>
        <p:spPr>
          <a:xfrm>
            <a:off x="11938602" y="20310615"/>
            <a:ext cx="10006998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 dirty="0"/>
              <a:t>Fig 4.</a:t>
            </a:r>
            <a:r>
              <a:rPr lang="es" sz="1600" dirty="0"/>
              <a:t> </a:t>
            </a:r>
            <a:r>
              <a:rPr lang="es" sz="2500" dirty="0">
                <a:solidFill>
                  <a:schemeClr val="dk1"/>
                </a:solidFill>
              </a:rPr>
              <a:t>Abanicos y cuencas mapeados </a:t>
            </a:r>
            <a:r>
              <a:rPr lang="es" sz="2200" dirty="0">
                <a:solidFill>
                  <a:schemeClr val="dk1"/>
                </a:solidFill>
              </a:rPr>
              <a:t>en</a:t>
            </a:r>
            <a:r>
              <a:rPr lang="es" sz="2500" dirty="0">
                <a:solidFill>
                  <a:schemeClr val="dk1"/>
                </a:solidFill>
              </a:rPr>
              <a:t> el área de estudio</a:t>
            </a:r>
            <a:endParaRPr sz="1600" dirty="0"/>
          </a:p>
        </p:txBody>
      </p:sp>
      <p:sp>
        <p:nvSpPr>
          <p:cNvPr id="207" name="Google Shape;112;p13">
            <a:extLst>
              <a:ext uri="{FF2B5EF4-FFF2-40B4-BE49-F238E27FC236}">
                <a16:creationId xmlns:a16="http://schemas.microsoft.com/office/drawing/2014/main" id="{30766E52-34F0-4A05-B0A3-0D202D1C58ED}"/>
              </a:ext>
            </a:extLst>
          </p:cNvPr>
          <p:cNvSpPr txBox="1"/>
          <p:nvPr/>
        </p:nvSpPr>
        <p:spPr>
          <a:xfrm>
            <a:off x="955249" y="32763460"/>
            <a:ext cx="1000699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/>
              <a:t>Tabla 1. </a:t>
            </a:r>
            <a:r>
              <a:rPr lang="es" sz="2200" dirty="0">
                <a:solidFill>
                  <a:schemeClr val="dk1"/>
                </a:solidFill>
              </a:rPr>
              <a:t>Parámetros morfométricos de cuencas</a:t>
            </a:r>
            <a:endParaRPr sz="2200" dirty="0"/>
          </a:p>
        </p:txBody>
      </p:sp>
      <p:sp>
        <p:nvSpPr>
          <p:cNvPr id="208" name="Google Shape;112;p13">
            <a:extLst>
              <a:ext uri="{FF2B5EF4-FFF2-40B4-BE49-F238E27FC236}">
                <a16:creationId xmlns:a16="http://schemas.microsoft.com/office/drawing/2014/main" id="{7FC0DE35-A6BA-46D1-A184-33777A54BFEC}"/>
              </a:ext>
            </a:extLst>
          </p:cNvPr>
          <p:cNvSpPr txBox="1"/>
          <p:nvPr/>
        </p:nvSpPr>
        <p:spPr>
          <a:xfrm>
            <a:off x="983827" y="38227146"/>
            <a:ext cx="10006998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/>
              <a:t>Tabla 2. </a:t>
            </a:r>
            <a:r>
              <a:rPr lang="es" sz="2200" dirty="0">
                <a:solidFill>
                  <a:schemeClr val="dk1"/>
                </a:solidFill>
              </a:rPr>
              <a:t>Parámetros morfométricos de abanicos</a:t>
            </a:r>
            <a:endParaRPr sz="2200" dirty="0"/>
          </a:p>
        </p:txBody>
      </p:sp>
      <p:pic>
        <p:nvPicPr>
          <p:cNvPr id="209" name="Google Shape;240;p32" descr="Gráfico, Histograma&#10;&#10;Descripción generada automáticamente">
            <a:extLst>
              <a:ext uri="{FF2B5EF4-FFF2-40B4-BE49-F238E27FC236}">
                <a16:creationId xmlns:a16="http://schemas.microsoft.com/office/drawing/2014/main" id="{5B0B85DE-8B4A-400A-84AC-3452BF80B066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8443914" y="21538291"/>
            <a:ext cx="2555507" cy="1671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41;p32" descr="Gráfico, Histograma&#10;&#10;Descripción generada automáticamente">
            <a:extLst>
              <a:ext uri="{FF2B5EF4-FFF2-40B4-BE49-F238E27FC236}">
                <a16:creationId xmlns:a16="http://schemas.microsoft.com/office/drawing/2014/main" id="{9E159D9A-D066-4930-AC16-962B3DA529CD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157739" y="21554154"/>
            <a:ext cx="2483581" cy="1671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42;p32" descr="Gráfico, Histograma&#10;&#10;Descripción generada automáticamente">
            <a:extLst>
              <a:ext uri="{FF2B5EF4-FFF2-40B4-BE49-F238E27FC236}">
                <a16:creationId xmlns:a16="http://schemas.microsoft.com/office/drawing/2014/main" id="{1BA27FAD-0065-4A73-B16C-34C02CC2EDDA}"/>
              </a:ext>
            </a:extLst>
          </p:cNvPr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3799638" y="21554154"/>
            <a:ext cx="2619186" cy="170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43;p32" descr="Gráfico, Histograma&#10;&#10;Descripción generada automáticamente">
            <a:extLst>
              <a:ext uri="{FF2B5EF4-FFF2-40B4-BE49-F238E27FC236}">
                <a16:creationId xmlns:a16="http://schemas.microsoft.com/office/drawing/2014/main" id="{55028274-5786-406E-8F96-344E001D7544}"/>
              </a:ext>
            </a:extLst>
          </p:cNvPr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32037" y="21538291"/>
            <a:ext cx="2651859" cy="1743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44;p32" descr="Gráfico, Histograma&#10;&#10;Descripción generada automáticamente">
            <a:extLst>
              <a:ext uri="{FF2B5EF4-FFF2-40B4-BE49-F238E27FC236}">
                <a16:creationId xmlns:a16="http://schemas.microsoft.com/office/drawing/2014/main" id="{687CFA74-163F-4BE4-89A8-B6E704B81D85}"/>
              </a:ext>
            </a:extLst>
          </p:cNvPr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6451087" y="23313404"/>
            <a:ext cx="2488678" cy="1749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45;p32" descr="Gráfico, Histograma&#10;&#10;Descripción generada automáticamente">
            <a:extLst>
              <a:ext uri="{FF2B5EF4-FFF2-40B4-BE49-F238E27FC236}">
                <a16:creationId xmlns:a16="http://schemas.microsoft.com/office/drawing/2014/main" id="{2268430F-9EF3-4A0A-BA3D-525583A27B72}"/>
              </a:ext>
            </a:extLst>
          </p:cNvPr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415361" y="23343567"/>
            <a:ext cx="2643035" cy="1671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46;p32" descr="Gráfico, Histograma&#10;&#10;Descripción generada automáticamente">
            <a:extLst>
              <a:ext uri="{FF2B5EF4-FFF2-40B4-BE49-F238E27FC236}">
                <a16:creationId xmlns:a16="http://schemas.microsoft.com/office/drawing/2014/main" id="{D169A90E-5716-4DC5-9D78-14AC1C894DFD}"/>
              </a:ext>
            </a:extLst>
          </p:cNvPr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1018493" y="23343567"/>
            <a:ext cx="2749922" cy="1761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47;p32" descr="Gráfico, Histograma&#10;&#10;Descripción generada automáticamente">
            <a:extLst>
              <a:ext uri="{FF2B5EF4-FFF2-40B4-BE49-F238E27FC236}">
                <a16:creationId xmlns:a16="http://schemas.microsoft.com/office/drawing/2014/main" id="{E67E0081-5D0C-4E4E-BCB4-BCF2B622A525}"/>
              </a:ext>
            </a:extLst>
          </p:cNvPr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3849912" y="23324671"/>
            <a:ext cx="2488678" cy="1761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58;p33" descr="Gráfico, Histograma&#10;&#10;Descripción generada automáticamente">
            <a:extLst>
              <a:ext uri="{FF2B5EF4-FFF2-40B4-BE49-F238E27FC236}">
                <a16:creationId xmlns:a16="http://schemas.microsoft.com/office/drawing/2014/main" id="{433AB799-D9AD-4A27-BF18-853B6ECF9B45}"/>
              </a:ext>
            </a:extLst>
          </p:cNvPr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19042401" y="21563242"/>
            <a:ext cx="2874619" cy="1838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59;p33" descr="Gráfico, Histograma&#10;&#10;Descripción generada automáticamente">
            <a:extLst>
              <a:ext uri="{FF2B5EF4-FFF2-40B4-BE49-F238E27FC236}">
                <a16:creationId xmlns:a16="http://schemas.microsoft.com/office/drawing/2014/main" id="{556CA391-F9ED-4D8B-942B-71F01449BA0A}"/>
              </a:ext>
            </a:extLst>
          </p:cNvPr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21825727" y="21563242"/>
            <a:ext cx="2841978" cy="1908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60;p33" descr="Gráfico, Histograma&#10;&#10;Descripción generada automáticamente">
            <a:extLst>
              <a:ext uri="{FF2B5EF4-FFF2-40B4-BE49-F238E27FC236}">
                <a16:creationId xmlns:a16="http://schemas.microsoft.com/office/drawing/2014/main" id="{0F4010AC-E87E-46AC-B58D-2C4166378874}"/>
              </a:ext>
            </a:extLst>
          </p:cNvPr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24733961" y="21563242"/>
            <a:ext cx="2623007" cy="1905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61;p33" descr="Gráfico, Histograma&#10;&#10;Descripción generada automáticamente">
            <a:extLst>
              <a:ext uri="{FF2B5EF4-FFF2-40B4-BE49-F238E27FC236}">
                <a16:creationId xmlns:a16="http://schemas.microsoft.com/office/drawing/2014/main" id="{6F74372D-7AD5-432E-AD16-A1A678D9A96F}"/>
              </a:ext>
            </a:extLst>
          </p:cNvPr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27354934" y="21608264"/>
            <a:ext cx="2671578" cy="1748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54;p33" descr="Histograma&#10;&#10;Descripción generada automáticamente">
            <a:extLst>
              <a:ext uri="{FF2B5EF4-FFF2-40B4-BE49-F238E27FC236}">
                <a16:creationId xmlns:a16="http://schemas.microsoft.com/office/drawing/2014/main" id="{028B653C-3309-489F-B0A9-93C2DD31BFFC}"/>
              </a:ext>
            </a:extLst>
          </p:cNvPr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9069208" y="23502065"/>
            <a:ext cx="2655595" cy="172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55;p33" descr="Gráfico, Histograma&#10;&#10;Descripción generada automáticamente">
            <a:extLst>
              <a:ext uri="{FF2B5EF4-FFF2-40B4-BE49-F238E27FC236}">
                <a16:creationId xmlns:a16="http://schemas.microsoft.com/office/drawing/2014/main" id="{E0AC8DE6-5434-4CF0-AAEB-2BEEB4E1438E}"/>
              </a:ext>
            </a:extLst>
          </p:cNvPr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21878168" y="23499967"/>
            <a:ext cx="2483092" cy="174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56;p33" descr="Gráfico, Histograma&#10;&#10;Descripción generada automáticamente">
            <a:extLst>
              <a:ext uri="{FF2B5EF4-FFF2-40B4-BE49-F238E27FC236}">
                <a16:creationId xmlns:a16="http://schemas.microsoft.com/office/drawing/2014/main" id="{E4161752-6A1B-4ACC-B968-896B402AD38F}"/>
              </a:ext>
            </a:extLst>
          </p:cNvPr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24622428" y="23452140"/>
            <a:ext cx="2727743" cy="1742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57;p33" descr="Gráfico, Histograma&#10;&#10;Descripción generada automáticamente">
            <a:extLst>
              <a:ext uri="{FF2B5EF4-FFF2-40B4-BE49-F238E27FC236}">
                <a16:creationId xmlns:a16="http://schemas.microsoft.com/office/drawing/2014/main" id="{0A77C447-7A08-4F70-B2D7-158C73E51871}"/>
              </a:ext>
            </a:extLst>
          </p:cNvPr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27392263" y="23499967"/>
            <a:ext cx="2588225" cy="17421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8" name="Google Shape;354;p36">
            <a:extLst>
              <a:ext uri="{FF2B5EF4-FFF2-40B4-BE49-F238E27FC236}">
                <a16:creationId xmlns:a16="http://schemas.microsoft.com/office/drawing/2014/main" id="{510E0375-B1C0-4F2C-9692-B813B36553FF}"/>
              </a:ext>
            </a:extLst>
          </p:cNvPr>
          <p:cNvGrpSpPr/>
          <p:nvPr/>
        </p:nvGrpSpPr>
        <p:grpSpPr>
          <a:xfrm>
            <a:off x="8353822" y="30834208"/>
            <a:ext cx="10891632" cy="6613216"/>
            <a:chOff x="1472724" y="992220"/>
            <a:chExt cx="8712135" cy="5227281"/>
          </a:xfrm>
        </p:grpSpPr>
        <p:pic>
          <p:nvPicPr>
            <p:cNvPr id="289" name="Google Shape;355;p36">
              <a:extLst>
                <a:ext uri="{FF2B5EF4-FFF2-40B4-BE49-F238E27FC236}">
                  <a16:creationId xmlns:a16="http://schemas.microsoft.com/office/drawing/2014/main" id="{6607E1EA-D504-40AC-B7F4-24EDA55AFF91}"/>
                </a:ext>
              </a:extLst>
            </p:cNvPr>
            <p:cNvPicPr preferRelativeResize="0"/>
            <p:nvPr/>
          </p:nvPicPr>
          <p:blipFill rotWithShape="1">
            <a:blip r:embed="rId32">
              <a:alphaModFix/>
            </a:blip>
            <a:srcRect/>
            <a:stretch/>
          </p:blipFill>
          <p:spPr>
            <a:xfrm>
              <a:off x="1472724" y="992220"/>
              <a:ext cx="8712135" cy="5227281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0" name="Google Shape;356;p36">
              <a:extLst>
                <a:ext uri="{FF2B5EF4-FFF2-40B4-BE49-F238E27FC236}">
                  <a16:creationId xmlns:a16="http://schemas.microsoft.com/office/drawing/2014/main" id="{741E4C65-B257-4605-8BB2-3CB952E7ECF1}"/>
                </a:ext>
              </a:extLst>
            </p:cNvPr>
            <p:cNvCxnSpPr/>
            <p:nvPr/>
          </p:nvCxnSpPr>
          <p:spPr>
            <a:xfrm rot="10800000">
              <a:off x="1472724" y="3893270"/>
              <a:ext cx="195863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1" name="Google Shape;357;p36">
              <a:extLst>
                <a:ext uri="{FF2B5EF4-FFF2-40B4-BE49-F238E27FC236}">
                  <a16:creationId xmlns:a16="http://schemas.microsoft.com/office/drawing/2014/main" id="{682ABA3E-EEB8-41B9-8DC2-4405CD60B7FE}"/>
                </a:ext>
              </a:extLst>
            </p:cNvPr>
            <p:cNvCxnSpPr/>
            <p:nvPr/>
          </p:nvCxnSpPr>
          <p:spPr>
            <a:xfrm rot="10800000">
              <a:off x="1472724" y="1066799"/>
              <a:ext cx="1958634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2" name="Google Shape;358;p36">
              <a:extLst>
                <a:ext uri="{FF2B5EF4-FFF2-40B4-BE49-F238E27FC236}">
                  <a16:creationId xmlns:a16="http://schemas.microsoft.com/office/drawing/2014/main" id="{EC1906D3-C14F-4191-9354-35339958EDC0}"/>
                </a:ext>
              </a:extLst>
            </p:cNvPr>
            <p:cNvCxnSpPr/>
            <p:nvPr/>
          </p:nvCxnSpPr>
          <p:spPr>
            <a:xfrm>
              <a:off x="1472724" y="1066799"/>
              <a:ext cx="0" cy="282647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3" name="Google Shape;359;p36">
              <a:extLst>
                <a:ext uri="{FF2B5EF4-FFF2-40B4-BE49-F238E27FC236}">
                  <a16:creationId xmlns:a16="http://schemas.microsoft.com/office/drawing/2014/main" id="{B7A082ED-D5F7-413B-9689-380516F46698}"/>
                </a:ext>
              </a:extLst>
            </p:cNvPr>
            <p:cNvCxnSpPr/>
            <p:nvPr/>
          </p:nvCxnSpPr>
          <p:spPr>
            <a:xfrm>
              <a:off x="3431358" y="3893270"/>
              <a:ext cx="0" cy="232623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4" name="Google Shape;360;p36">
              <a:extLst>
                <a:ext uri="{FF2B5EF4-FFF2-40B4-BE49-F238E27FC236}">
                  <a16:creationId xmlns:a16="http://schemas.microsoft.com/office/drawing/2014/main" id="{A4473E32-CC41-4750-9BE3-D8DD500502DC}"/>
                </a:ext>
              </a:extLst>
            </p:cNvPr>
            <p:cNvCxnSpPr/>
            <p:nvPr/>
          </p:nvCxnSpPr>
          <p:spPr>
            <a:xfrm>
              <a:off x="9296400" y="3893270"/>
              <a:ext cx="0" cy="232623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5" name="Google Shape;361;p36">
              <a:extLst>
                <a:ext uri="{FF2B5EF4-FFF2-40B4-BE49-F238E27FC236}">
                  <a16:creationId xmlns:a16="http://schemas.microsoft.com/office/drawing/2014/main" id="{4711C178-0844-42AA-8E6A-28C09B9949C1}"/>
                </a:ext>
              </a:extLst>
            </p:cNvPr>
            <p:cNvCxnSpPr/>
            <p:nvPr/>
          </p:nvCxnSpPr>
          <p:spPr>
            <a:xfrm rot="10800000">
              <a:off x="3412504" y="6219501"/>
              <a:ext cx="5893618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96" name="Google Shape;375;p37">
            <a:extLst>
              <a:ext uri="{FF2B5EF4-FFF2-40B4-BE49-F238E27FC236}">
                <a16:creationId xmlns:a16="http://schemas.microsoft.com/office/drawing/2014/main" id="{5E53D324-4086-4793-AB09-CC09C598BC58}"/>
              </a:ext>
            </a:extLst>
          </p:cNvPr>
          <p:cNvGrpSpPr/>
          <p:nvPr/>
        </p:nvGrpSpPr>
        <p:grpSpPr>
          <a:xfrm>
            <a:off x="22689171" y="25664803"/>
            <a:ext cx="3070992" cy="2831888"/>
            <a:chOff x="1206573" y="1243012"/>
            <a:chExt cx="4572000" cy="4371975"/>
          </a:xfrm>
        </p:grpSpPr>
        <p:pic>
          <p:nvPicPr>
            <p:cNvPr id="297" name="Google Shape;376;p37" descr="Gráfico, Gráfico de dispersión&#10;&#10;Descripción generada automáticamente">
              <a:extLst>
                <a:ext uri="{FF2B5EF4-FFF2-40B4-BE49-F238E27FC236}">
                  <a16:creationId xmlns:a16="http://schemas.microsoft.com/office/drawing/2014/main" id="{AC64B738-31C4-4BDE-905C-69A824873744}"/>
                </a:ext>
              </a:extLst>
            </p:cNvPr>
            <p:cNvPicPr preferRelativeResize="0"/>
            <p:nvPr/>
          </p:nvPicPr>
          <p:blipFill rotWithShape="1">
            <a:blip r:embed="rId33">
              <a:alphaModFix/>
            </a:blip>
            <a:srcRect/>
            <a:stretch/>
          </p:blipFill>
          <p:spPr>
            <a:xfrm>
              <a:off x="1206573" y="1243012"/>
              <a:ext cx="4572000" cy="43719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8" name="Google Shape;377;p37">
              <a:extLst>
                <a:ext uri="{FF2B5EF4-FFF2-40B4-BE49-F238E27FC236}">
                  <a16:creationId xmlns:a16="http://schemas.microsoft.com/office/drawing/2014/main" id="{5B25CF42-A62E-417E-A400-D200154770C7}"/>
                </a:ext>
              </a:extLst>
            </p:cNvPr>
            <p:cNvCxnSpPr/>
            <p:nvPr/>
          </p:nvCxnSpPr>
          <p:spPr>
            <a:xfrm>
              <a:off x="1866900" y="1252537"/>
              <a:ext cx="376237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9" name="Google Shape;378;p37">
              <a:extLst>
                <a:ext uri="{FF2B5EF4-FFF2-40B4-BE49-F238E27FC236}">
                  <a16:creationId xmlns:a16="http://schemas.microsoft.com/office/drawing/2014/main" id="{0C498927-05E0-4D10-BC9F-F09694B1E499}"/>
                </a:ext>
              </a:extLst>
            </p:cNvPr>
            <p:cNvCxnSpPr/>
            <p:nvPr/>
          </p:nvCxnSpPr>
          <p:spPr>
            <a:xfrm>
              <a:off x="5629275" y="1252537"/>
              <a:ext cx="0" cy="3824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00" name="Google Shape;386;p38">
            <a:extLst>
              <a:ext uri="{FF2B5EF4-FFF2-40B4-BE49-F238E27FC236}">
                <a16:creationId xmlns:a16="http://schemas.microsoft.com/office/drawing/2014/main" id="{A67ACECE-2F74-4139-8178-949F54763158}"/>
              </a:ext>
            </a:extLst>
          </p:cNvPr>
          <p:cNvGrpSpPr/>
          <p:nvPr/>
        </p:nvGrpSpPr>
        <p:grpSpPr>
          <a:xfrm>
            <a:off x="19322726" y="25584416"/>
            <a:ext cx="2950638" cy="2883020"/>
            <a:chOff x="3550324" y="1195387"/>
            <a:chExt cx="4572000" cy="4467225"/>
          </a:xfrm>
        </p:grpSpPr>
        <p:pic>
          <p:nvPicPr>
            <p:cNvPr id="301" name="Google Shape;387;p38" descr="Gráfico, Gráfico de dispersión&#10;&#10;Descripción generada automáticamente">
              <a:extLst>
                <a:ext uri="{FF2B5EF4-FFF2-40B4-BE49-F238E27FC236}">
                  <a16:creationId xmlns:a16="http://schemas.microsoft.com/office/drawing/2014/main" id="{5F2D5515-7EB9-4D84-8E94-B8088AE4C3AA}"/>
                </a:ext>
              </a:extLst>
            </p:cNvPr>
            <p:cNvPicPr preferRelativeResize="0"/>
            <p:nvPr/>
          </p:nvPicPr>
          <p:blipFill rotWithShape="1">
            <a:blip r:embed="rId34">
              <a:alphaModFix/>
            </a:blip>
            <a:srcRect/>
            <a:stretch/>
          </p:blipFill>
          <p:spPr>
            <a:xfrm>
              <a:off x="3550324" y="1195387"/>
              <a:ext cx="4572000" cy="44672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2" name="Google Shape;388;p38">
              <a:extLst>
                <a:ext uri="{FF2B5EF4-FFF2-40B4-BE49-F238E27FC236}">
                  <a16:creationId xmlns:a16="http://schemas.microsoft.com/office/drawing/2014/main" id="{DFD7B40C-D4B7-4309-8F4E-48F5D7FFFE6D}"/>
                </a:ext>
              </a:extLst>
            </p:cNvPr>
            <p:cNvCxnSpPr/>
            <p:nvPr/>
          </p:nvCxnSpPr>
          <p:spPr>
            <a:xfrm>
              <a:off x="4198024" y="1281112"/>
              <a:ext cx="3762375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3" name="Google Shape;389;p38">
              <a:extLst>
                <a:ext uri="{FF2B5EF4-FFF2-40B4-BE49-F238E27FC236}">
                  <a16:creationId xmlns:a16="http://schemas.microsoft.com/office/drawing/2014/main" id="{78D06E79-6086-4015-9A97-695647C7785E}"/>
                </a:ext>
              </a:extLst>
            </p:cNvPr>
            <p:cNvCxnSpPr/>
            <p:nvPr/>
          </p:nvCxnSpPr>
          <p:spPr>
            <a:xfrm>
              <a:off x="7960399" y="1281112"/>
              <a:ext cx="0" cy="3824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08" name="Grupo 307">
            <a:extLst>
              <a:ext uri="{FF2B5EF4-FFF2-40B4-BE49-F238E27FC236}">
                <a16:creationId xmlns:a16="http://schemas.microsoft.com/office/drawing/2014/main" id="{965C42E2-5B96-4CEE-AB2D-FBC4A2D12205}"/>
              </a:ext>
            </a:extLst>
          </p:cNvPr>
          <p:cNvGrpSpPr/>
          <p:nvPr/>
        </p:nvGrpSpPr>
        <p:grpSpPr>
          <a:xfrm>
            <a:off x="8536596" y="26146108"/>
            <a:ext cx="5509646" cy="3056904"/>
            <a:chOff x="2449565" y="1277193"/>
            <a:chExt cx="8194593" cy="4352845"/>
          </a:xfrm>
        </p:grpSpPr>
        <p:sp>
          <p:nvSpPr>
            <p:cNvPr id="309" name="Google Shape;268;p34">
              <a:extLst>
                <a:ext uri="{FF2B5EF4-FFF2-40B4-BE49-F238E27FC236}">
                  <a16:creationId xmlns:a16="http://schemas.microsoft.com/office/drawing/2014/main" id="{1C6DD201-3E7D-4E55-93F8-A4BB71090455}"/>
                </a:ext>
              </a:extLst>
            </p:cNvPr>
            <p:cNvSpPr txBox="1"/>
            <p:nvPr/>
          </p:nvSpPr>
          <p:spPr>
            <a:xfrm>
              <a:off x="2449565" y="5192893"/>
              <a:ext cx="12775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Fan area (km</a:t>
              </a:r>
              <a:r>
                <a:rPr lang="es-CO" sz="1200" b="1" i="0" u="none" strike="noStrike" cap="none" baseline="30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2</a:t>
              </a: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</p:txBody>
        </p:sp>
        <p:sp>
          <p:nvSpPr>
            <p:cNvPr id="310" name="Google Shape;269;p34">
              <a:extLst>
                <a:ext uri="{FF2B5EF4-FFF2-40B4-BE49-F238E27FC236}">
                  <a16:creationId xmlns:a16="http://schemas.microsoft.com/office/drawing/2014/main" id="{B46CE31A-0DDE-48B2-9E57-C74A7032D065}"/>
                </a:ext>
              </a:extLst>
            </p:cNvPr>
            <p:cNvSpPr txBox="1"/>
            <p:nvPr/>
          </p:nvSpPr>
          <p:spPr>
            <a:xfrm>
              <a:off x="3663041" y="5168373"/>
              <a:ext cx="180274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Catchment área</a:t>
              </a:r>
              <a:endParaRPr/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(km</a:t>
              </a:r>
              <a:r>
                <a:rPr lang="es-CO" sz="1200" b="1" i="0" u="none" strike="noStrike" cap="none" baseline="30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2</a:t>
              </a: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</p:txBody>
        </p:sp>
        <p:sp>
          <p:nvSpPr>
            <p:cNvPr id="311" name="Google Shape;270;p34">
              <a:extLst>
                <a:ext uri="{FF2B5EF4-FFF2-40B4-BE49-F238E27FC236}">
                  <a16:creationId xmlns:a16="http://schemas.microsoft.com/office/drawing/2014/main" id="{7251893C-6A49-434E-921A-CC027E14182B}"/>
                </a:ext>
              </a:extLst>
            </p:cNvPr>
            <p:cNvSpPr txBox="1"/>
            <p:nvPr/>
          </p:nvSpPr>
          <p:spPr>
            <a:xfrm>
              <a:off x="4890480" y="5176701"/>
              <a:ext cx="14543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Fan slope(</a:t>
              </a:r>
              <a:r>
                <a:rPr lang="es-CO" sz="1200" b="1" i="0" u="none" strike="noStrike" cap="none" baseline="30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°</a:t>
              </a: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</p:txBody>
        </p:sp>
        <p:sp>
          <p:nvSpPr>
            <p:cNvPr id="312" name="Google Shape;271;p34">
              <a:extLst>
                <a:ext uri="{FF2B5EF4-FFF2-40B4-BE49-F238E27FC236}">
                  <a16:creationId xmlns:a16="http://schemas.microsoft.com/office/drawing/2014/main" id="{4C375E1B-0020-4E61-AF0F-E76F29102DBD}"/>
                </a:ext>
              </a:extLst>
            </p:cNvPr>
            <p:cNvSpPr txBox="1"/>
            <p:nvPr/>
          </p:nvSpPr>
          <p:spPr>
            <a:xfrm>
              <a:off x="5912570" y="5140964"/>
              <a:ext cx="152249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Catchment </a:t>
              </a:r>
              <a:endParaRPr/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slope(</a:t>
              </a:r>
              <a:r>
                <a:rPr lang="es-CO" sz="1200" b="1" i="0" u="none" strike="noStrike" cap="none" baseline="30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°</a:t>
              </a: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</p:txBody>
        </p:sp>
        <p:sp>
          <p:nvSpPr>
            <p:cNvPr id="313" name="Google Shape;272;p34">
              <a:extLst>
                <a:ext uri="{FF2B5EF4-FFF2-40B4-BE49-F238E27FC236}">
                  <a16:creationId xmlns:a16="http://schemas.microsoft.com/office/drawing/2014/main" id="{A45B0416-9D9C-414E-9437-16EA5372ABF3}"/>
                </a:ext>
              </a:extLst>
            </p:cNvPr>
            <p:cNvSpPr txBox="1"/>
            <p:nvPr/>
          </p:nvSpPr>
          <p:spPr>
            <a:xfrm>
              <a:off x="6845190" y="5164827"/>
              <a:ext cx="1423122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Fan relief (km)</a:t>
              </a:r>
              <a:endParaRPr/>
            </a:p>
          </p:txBody>
        </p:sp>
        <p:sp>
          <p:nvSpPr>
            <p:cNvPr id="314" name="Google Shape;273;p34">
              <a:extLst>
                <a:ext uri="{FF2B5EF4-FFF2-40B4-BE49-F238E27FC236}">
                  <a16:creationId xmlns:a16="http://schemas.microsoft.com/office/drawing/2014/main" id="{866485AD-1FF3-4150-A3E7-AE9528687DB4}"/>
                </a:ext>
              </a:extLst>
            </p:cNvPr>
            <p:cNvSpPr txBox="1"/>
            <p:nvPr/>
          </p:nvSpPr>
          <p:spPr>
            <a:xfrm>
              <a:off x="8024933" y="5141800"/>
              <a:ext cx="161142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Catchment </a:t>
              </a:r>
              <a:endParaRPr/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relief (km)</a:t>
              </a:r>
              <a:endParaRPr/>
            </a:p>
          </p:txBody>
        </p:sp>
        <p:sp>
          <p:nvSpPr>
            <p:cNvPr id="315" name="Google Shape;274;p34">
              <a:extLst>
                <a:ext uri="{FF2B5EF4-FFF2-40B4-BE49-F238E27FC236}">
                  <a16:creationId xmlns:a16="http://schemas.microsoft.com/office/drawing/2014/main" id="{CD4C809C-2775-448C-9E05-0D86CDB64606}"/>
                </a:ext>
              </a:extLst>
            </p:cNvPr>
            <p:cNvSpPr txBox="1"/>
            <p:nvPr/>
          </p:nvSpPr>
          <p:spPr>
            <a:xfrm>
              <a:off x="8974585" y="5146742"/>
              <a:ext cx="16695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Fan volumen</a:t>
              </a:r>
              <a:endParaRPr/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(km</a:t>
              </a:r>
              <a:r>
                <a:rPr lang="es-CO" sz="1200" b="1" i="0" u="none" strike="noStrike" cap="none" baseline="300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3</a:t>
              </a: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</p:txBody>
        </p:sp>
        <p:grpSp>
          <p:nvGrpSpPr>
            <p:cNvPr id="316" name="Google Shape;283;p34">
              <a:extLst>
                <a:ext uri="{FF2B5EF4-FFF2-40B4-BE49-F238E27FC236}">
                  <a16:creationId xmlns:a16="http://schemas.microsoft.com/office/drawing/2014/main" id="{32C7D4CE-2F96-4CCC-BA20-B36B019B7DCC}"/>
                </a:ext>
              </a:extLst>
            </p:cNvPr>
            <p:cNvGrpSpPr/>
            <p:nvPr/>
          </p:nvGrpSpPr>
          <p:grpSpPr>
            <a:xfrm>
              <a:off x="2449565" y="1277193"/>
              <a:ext cx="7504060" cy="3932982"/>
              <a:chOff x="490438" y="1836498"/>
              <a:chExt cx="5483995" cy="3030437"/>
            </a:xfrm>
          </p:grpSpPr>
          <p:pic>
            <p:nvPicPr>
              <p:cNvPr id="317" name="Google Shape;284;p34" descr="Imagen que contiene Gráfico&#10;&#10;Descripción generada automáticamente">
                <a:extLst>
                  <a:ext uri="{FF2B5EF4-FFF2-40B4-BE49-F238E27FC236}">
                    <a16:creationId xmlns:a16="http://schemas.microsoft.com/office/drawing/2014/main" id="{7365A264-787A-4006-914B-FC8F73A79660}"/>
                  </a:ext>
                </a:extLst>
              </p:cNvPr>
              <p:cNvPicPr preferRelativeResize="0"/>
              <p:nvPr/>
            </p:nvPicPr>
            <p:blipFill rotWithShape="1">
              <a:blip r:embed="rId35">
                <a:alphaModFix/>
              </a:blip>
              <a:srcRect/>
              <a:stretch/>
            </p:blipFill>
            <p:spPr>
              <a:xfrm>
                <a:off x="490438" y="1836498"/>
                <a:ext cx="5483995" cy="303043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8" name="Google Shape;285;p34">
                <a:extLst>
                  <a:ext uri="{FF2B5EF4-FFF2-40B4-BE49-F238E27FC236}">
                    <a16:creationId xmlns:a16="http://schemas.microsoft.com/office/drawing/2014/main" id="{B3EFC18C-3F99-43BA-988E-38D98A6DB28A}"/>
                  </a:ext>
                </a:extLst>
              </p:cNvPr>
              <p:cNvSpPr/>
              <p:nvPr/>
            </p:nvSpPr>
            <p:spPr>
              <a:xfrm>
                <a:off x="594723" y="3921551"/>
                <a:ext cx="71537" cy="452486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286;p34">
                <a:extLst>
                  <a:ext uri="{FF2B5EF4-FFF2-40B4-BE49-F238E27FC236}">
                    <a16:creationId xmlns:a16="http://schemas.microsoft.com/office/drawing/2014/main" id="{47B6D2FC-7689-413A-9423-1966A49A14DB}"/>
                  </a:ext>
                </a:extLst>
              </p:cNvPr>
              <p:cNvSpPr/>
              <p:nvPr/>
            </p:nvSpPr>
            <p:spPr>
              <a:xfrm>
                <a:off x="619125" y="2943468"/>
                <a:ext cx="71537" cy="452486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287;p34">
                <a:extLst>
                  <a:ext uri="{FF2B5EF4-FFF2-40B4-BE49-F238E27FC236}">
                    <a16:creationId xmlns:a16="http://schemas.microsoft.com/office/drawing/2014/main" id="{03E05453-E3A6-4484-8C59-C3FFC8F2B61C}"/>
                  </a:ext>
                </a:extLst>
              </p:cNvPr>
              <p:cNvSpPr/>
              <p:nvPr/>
            </p:nvSpPr>
            <p:spPr>
              <a:xfrm>
                <a:off x="619125" y="1992924"/>
                <a:ext cx="71537" cy="452486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288;p34">
                <a:extLst>
                  <a:ext uri="{FF2B5EF4-FFF2-40B4-BE49-F238E27FC236}">
                    <a16:creationId xmlns:a16="http://schemas.microsoft.com/office/drawing/2014/main" id="{266664AB-0E6A-422B-8B0E-1B70E5E3DC3F}"/>
                  </a:ext>
                </a:extLst>
              </p:cNvPr>
              <p:cNvSpPr/>
              <p:nvPr/>
            </p:nvSpPr>
            <p:spPr>
              <a:xfrm>
                <a:off x="1404582" y="3847494"/>
                <a:ext cx="224783" cy="452486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289;p34">
                <a:extLst>
                  <a:ext uri="{FF2B5EF4-FFF2-40B4-BE49-F238E27FC236}">
                    <a16:creationId xmlns:a16="http://schemas.microsoft.com/office/drawing/2014/main" id="{D56EB7BF-75CD-4321-B1C5-1422A9E2D7FB}"/>
                  </a:ext>
                </a:extLst>
              </p:cNvPr>
              <p:cNvSpPr/>
              <p:nvPr/>
            </p:nvSpPr>
            <p:spPr>
              <a:xfrm>
                <a:off x="1404581" y="3071496"/>
                <a:ext cx="224783" cy="452486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290;p34">
                <a:extLst>
                  <a:ext uri="{FF2B5EF4-FFF2-40B4-BE49-F238E27FC236}">
                    <a16:creationId xmlns:a16="http://schemas.microsoft.com/office/drawing/2014/main" id="{01A1394C-8666-47BC-A031-B741B1C8A8A5}"/>
                  </a:ext>
                </a:extLst>
              </p:cNvPr>
              <p:cNvSpPr/>
              <p:nvPr/>
            </p:nvSpPr>
            <p:spPr>
              <a:xfrm>
                <a:off x="1404581" y="2295498"/>
                <a:ext cx="224783" cy="452486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291;p34">
                <a:extLst>
                  <a:ext uri="{FF2B5EF4-FFF2-40B4-BE49-F238E27FC236}">
                    <a16:creationId xmlns:a16="http://schemas.microsoft.com/office/drawing/2014/main" id="{48A51E81-50C9-4103-9DB1-3EFA7367430D}"/>
                  </a:ext>
                </a:extLst>
              </p:cNvPr>
              <p:cNvSpPr/>
              <p:nvPr/>
            </p:nvSpPr>
            <p:spPr>
              <a:xfrm>
                <a:off x="2374661" y="3702327"/>
                <a:ext cx="95162" cy="530308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292;p34">
                <a:extLst>
                  <a:ext uri="{FF2B5EF4-FFF2-40B4-BE49-F238E27FC236}">
                    <a16:creationId xmlns:a16="http://schemas.microsoft.com/office/drawing/2014/main" id="{9D007FB2-228F-4584-94AD-7EB9A88AA3E6}"/>
                  </a:ext>
                </a:extLst>
              </p:cNvPr>
              <p:cNvSpPr/>
              <p:nvPr/>
            </p:nvSpPr>
            <p:spPr>
              <a:xfrm>
                <a:off x="2343283" y="2413160"/>
                <a:ext cx="126540" cy="530308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293;p34">
                <a:extLst>
                  <a:ext uri="{FF2B5EF4-FFF2-40B4-BE49-F238E27FC236}">
                    <a16:creationId xmlns:a16="http://schemas.microsoft.com/office/drawing/2014/main" id="{272DB2F4-C3B1-4066-AE37-17FE8A50067C}"/>
                  </a:ext>
                </a:extLst>
              </p:cNvPr>
              <p:cNvSpPr/>
              <p:nvPr/>
            </p:nvSpPr>
            <p:spPr>
              <a:xfrm>
                <a:off x="3723208" y="3457229"/>
                <a:ext cx="153246" cy="1011775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294;p34">
                <a:extLst>
                  <a:ext uri="{FF2B5EF4-FFF2-40B4-BE49-F238E27FC236}">
                    <a16:creationId xmlns:a16="http://schemas.microsoft.com/office/drawing/2014/main" id="{CEB7F165-4696-411C-84A3-ECCDCC261F5F}"/>
                  </a:ext>
                </a:extLst>
              </p:cNvPr>
              <p:cNvSpPr/>
              <p:nvPr/>
            </p:nvSpPr>
            <p:spPr>
              <a:xfrm>
                <a:off x="3054082" y="2242096"/>
                <a:ext cx="153246" cy="1011775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295;p34">
                <a:extLst>
                  <a:ext uri="{FF2B5EF4-FFF2-40B4-BE49-F238E27FC236}">
                    <a16:creationId xmlns:a16="http://schemas.microsoft.com/office/drawing/2014/main" id="{E76E73EF-817B-4DF1-8E13-6D1C02C99E67}"/>
                  </a:ext>
                </a:extLst>
              </p:cNvPr>
              <p:cNvSpPr/>
              <p:nvPr/>
            </p:nvSpPr>
            <p:spPr>
              <a:xfrm>
                <a:off x="3036686" y="3478439"/>
                <a:ext cx="153246" cy="1011775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296;p34">
                <a:extLst>
                  <a:ext uri="{FF2B5EF4-FFF2-40B4-BE49-F238E27FC236}">
                    <a16:creationId xmlns:a16="http://schemas.microsoft.com/office/drawing/2014/main" id="{061BB9BE-52BA-4C6E-8C5F-6B3FDB594312}"/>
                  </a:ext>
                </a:extLst>
              </p:cNvPr>
              <p:cNvSpPr/>
              <p:nvPr/>
            </p:nvSpPr>
            <p:spPr>
              <a:xfrm>
                <a:off x="3702777" y="2187875"/>
                <a:ext cx="191764" cy="1011775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297;p34">
                <a:extLst>
                  <a:ext uri="{FF2B5EF4-FFF2-40B4-BE49-F238E27FC236}">
                    <a16:creationId xmlns:a16="http://schemas.microsoft.com/office/drawing/2014/main" id="{75667363-E58E-47E4-A878-60F7AE103FE7}"/>
                  </a:ext>
                </a:extLst>
              </p:cNvPr>
              <p:cNvSpPr/>
              <p:nvPr/>
            </p:nvSpPr>
            <p:spPr>
              <a:xfrm>
                <a:off x="4545597" y="2219167"/>
                <a:ext cx="191764" cy="1011775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298;p34">
                <a:extLst>
                  <a:ext uri="{FF2B5EF4-FFF2-40B4-BE49-F238E27FC236}">
                    <a16:creationId xmlns:a16="http://schemas.microsoft.com/office/drawing/2014/main" id="{CAC8F42F-B77C-4F35-996A-F8145CC30504}"/>
                  </a:ext>
                </a:extLst>
              </p:cNvPr>
              <p:cNvSpPr/>
              <p:nvPr/>
            </p:nvSpPr>
            <p:spPr>
              <a:xfrm>
                <a:off x="4564938" y="3446063"/>
                <a:ext cx="191764" cy="1011775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299;p34">
                <a:extLst>
                  <a:ext uri="{FF2B5EF4-FFF2-40B4-BE49-F238E27FC236}">
                    <a16:creationId xmlns:a16="http://schemas.microsoft.com/office/drawing/2014/main" id="{41F17475-0A4B-43BB-942A-CFC00AD9C35B}"/>
                  </a:ext>
                </a:extLst>
              </p:cNvPr>
              <p:cNvSpPr/>
              <p:nvPr/>
            </p:nvSpPr>
            <p:spPr>
              <a:xfrm>
                <a:off x="5291841" y="1973852"/>
                <a:ext cx="191764" cy="214023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00;p34">
                <a:extLst>
                  <a:ext uri="{FF2B5EF4-FFF2-40B4-BE49-F238E27FC236}">
                    <a16:creationId xmlns:a16="http://schemas.microsoft.com/office/drawing/2014/main" id="{E0B50FB8-5553-48E2-85EE-1E5232F8449A}"/>
                  </a:ext>
                </a:extLst>
              </p:cNvPr>
              <p:cNvSpPr/>
              <p:nvPr/>
            </p:nvSpPr>
            <p:spPr>
              <a:xfrm>
                <a:off x="5281954" y="2725054"/>
                <a:ext cx="199983" cy="537959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01;p34">
                <a:extLst>
                  <a:ext uri="{FF2B5EF4-FFF2-40B4-BE49-F238E27FC236}">
                    <a16:creationId xmlns:a16="http://schemas.microsoft.com/office/drawing/2014/main" id="{BDAF188A-32B4-421D-B463-BF13E5348A3C}"/>
                  </a:ext>
                </a:extLst>
              </p:cNvPr>
              <p:cNvSpPr/>
              <p:nvPr/>
            </p:nvSpPr>
            <p:spPr>
              <a:xfrm>
                <a:off x="5291841" y="3824010"/>
                <a:ext cx="199983" cy="537959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5" name="Grupo 334">
            <a:extLst>
              <a:ext uri="{FF2B5EF4-FFF2-40B4-BE49-F238E27FC236}">
                <a16:creationId xmlns:a16="http://schemas.microsoft.com/office/drawing/2014/main" id="{A4B313C8-6B73-457B-81F5-7EE6B8E82E90}"/>
              </a:ext>
            </a:extLst>
          </p:cNvPr>
          <p:cNvGrpSpPr/>
          <p:nvPr/>
        </p:nvGrpSpPr>
        <p:grpSpPr>
          <a:xfrm>
            <a:off x="13729374" y="26189955"/>
            <a:ext cx="5509784" cy="3118392"/>
            <a:chOff x="2649200" y="1202044"/>
            <a:chExt cx="7606831" cy="4305268"/>
          </a:xfrm>
        </p:grpSpPr>
        <p:sp>
          <p:nvSpPr>
            <p:cNvPr id="336" name="Google Shape;317;p35">
              <a:extLst>
                <a:ext uri="{FF2B5EF4-FFF2-40B4-BE49-F238E27FC236}">
                  <a16:creationId xmlns:a16="http://schemas.microsoft.com/office/drawing/2014/main" id="{888A0513-7CC2-4701-B74C-8FDA41E1D9C3}"/>
                </a:ext>
              </a:extLst>
            </p:cNvPr>
            <p:cNvSpPr txBox="1"/>
            <p:nvPr/>
          </p:nvSpPr>
          <p:spPr>
            <a:xfrm>
              <a:off x="2698149" y="5039292"/>
              <a:ext cx="1765299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Main stream</a:t>
              </a:r>
              <a:endPara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order</a:t>
              </a:r>
              <a:endPara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7" name="Google Shape;318;p35">
              <a:extLst>
                <a:ext uri="{FF2B5EF4-FFF2-40B4-BE49-F238E27FC236}">
                  <a16:creationId xmlns:a16="http://schemas.microsoft.com/office/drawing/2014/main" id="{F0205416-83D1-412C-8E59-39FF962C6B3F}"/>
                </a:ext>
              </a:extLst>
            </p:cNvPr>
            <p:cNvSpPr txBox="1"/>
            <p:nvPr/>
          </p:nvSpPr>
          <p:spPr>
            <a:xfrm>
              <a:off x="3668353" y="5036490"/>
              <a:ext cx="17695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Main stream</a:t>
              </a:r>
              <a:endPara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length</a:t>
              </a:r>
              <a:endPara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8" name="Google Shape;319;p35">
              <a:extLst>
                <a:ext uri="{FF2B5EF4-FFF2-40B4-BE49-F238E27FC236}">
                  <a16:creationId xmlns:a16="http://schemas.microsoft.com/office/drawing/2014/main" id="{07A538DC-1C4A-40B7-A478-107D7F091F9B}"/>
                </a:ext>
              </a:extLst>
            </p:cNvPr>
            <p:cNvSpPr txBox="1"/>
            <p:nvPr/>
          </p:nvSpPr>
          <p:spPr>
            <a:xfrm>
              <a:off x="4699007" y="5094201"/>
              <a:ext cx="146929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 factor</a:t>
              </a:r>
              <a:endParaRPr/>
            </a:p>
          </p:txBody>
        </p:sp>
        <p:sp>
          <p:nvSpPr>
            <p:cNvPr id="339" name="Google Shape;320;p35">
              <a:extLst>
                <a:ext uri="{FF2B5EF4-FFF2-40B4-BE49-F238E27FC236}">
                  <a16:creationId xmlns:a16="http://schemas.microsoft.com/office/drawing/2014/main" id="{7B4E2218-A94F-44AC-AF9B-973D599D1608}"/>
                </a:ext>
              </a:extLst>
            </p:cNvPr>
            <p:cNvSpPr txBox="1"/>
            <p:nvPr/>
          </p:nvSpPr>
          <p:spPr>
            <a:xfrm>
              <a:off x="5685486" y="5036490"/>
              <a:ext cx="17695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Torrentiality</a:t>
              </a:r>
              <a:endPara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Cofficient </a:t>
              </a:r>
              <a:endParaRPr/>
            </a:p>
          </p:txBody>
        </p:sp>
        <p:sp>
          <p:nvSpPr>
            <p:cNvPr id="340" name="Google Shape;321;p35">
              <a:extLst>
                <a:ext uri="{FF2B5EF4-FFF2-40B4-BE49-F238E27FC236}">
                  <a16:creationId xmlns:a16="http://schemas.microsoft.com/office/drawing/2014/main" id="{6F6DD1EB-F790-4DCB-BFD8-A0E4CB8207C7}"/>
                </a:ext>
              </a:extLst>
            </p:cNvPr>
            <p:cNvSpPr txBox="1"/>
            <p:nvPr/>
          </p:nvSpPr>
          <p:spPr>
            <a:xfrm>
              <a:off x="6927056" y="5045647"/>
              <a:ext cx="1469290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Relief</a:t>
              </a:r>
              <a:endParaRPr/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ratio</a:t>
              </a:r>
              <a:endParaRPr/>
            </a:p>
          </p:txBody>
        </p:sp>
        <p:sp>
          <p:nvSpPr>
            <p:cNvPr id="341" name="Google Shape;322;p35">
              <a:extLst>
                <a:ext uri="{FF2B5EF4-FFF2-40B4-BE49-F238E27FC236}">
                  <a16:creationId xmlns:a16="http://schemas.microsoft.com/office/drawing/2014/main" id="{5CFF6692-D9C7-415A-B626-28AE7CBA96B1}"/>
                </a:ext>
              </a:extLst>
            </p:cNvPr>
            <p:cNvSpPr txBox="1"/>
            <p:nvPr/>
          </p:nvSpPr>
          <p:spPr>
            <a:xfrm>
              <a:off x="7812298" y="5035054"/>
              <a:ext cx="1747051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Ruggedness</a:t>
              </a:r>
              <a:endPara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number</a:t>
              </a:r>
              <a:endPara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23;p35">
              <a:extLst>
                <a:ext uri="{FF2B5EF4-FFF2-40B4-BE49-F238E27FC236}">
                  <a16:creationId xmlns:a16="http://schemas.microsoft.com/office/drawing/2014/main" id="{0DA41155-E56B-4461-A30E-68FF00BD3817}"/>
                </a:ext>
              </a:extLst>
            </p:cNvPr>
            <p:cNvSpPr txBox="1"/>
            <p:nvPr/>
          </p:nvSpPr>
          <p:spPr>
            <a:xfrm>
              <a:off x="8786741" y="5125662"/>
              <a:ext cx="1469290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O" sz="12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Melton index</a:t>
              </a:r>
              <a:endParaRPr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343" name="Google Shape;328;p35">
              <a:extLst>
                <a:ext uri="{FF2B5EF4-FFF2-40B4-BE49-F238E27FC236}">
                  <a16:creationId xmlns:a16="http://schemas.microsoft.com/office/drawing/2014/main" id="{E5A40054-512D-4C15-9A50-8D69AF196943}"/>
                </a:ext>
              </a:extLst>
            </p:cNvPr>
            <p:cNvGrpSpPr/>
            <p:nvPr/>
          </p:nvGrpSpPr>
          <p:grpSpPr>
            <a:xfrm>
              <a:off x="2649200" y="1202044"/>
              <a:ext cx="7143350" cy="3897952"/>
              <a:chOff x="6001274" y="1867295"/>
              <a:chExt cx="5571601" cy="3002351"/>
            </a:xfrm>
          </p:grpSpPr>
          <p:grpSp>
            <p:nvGrpSpPr>
              <p:cNvPr id="344" name="Google Shape;329;p35">
                <a:extLst>
                  <a:ext uri="{FF2B5EF4-FFF2-40B4-BE49-F238E27FC236}">
                    <a16:creationId xmlns:a16="http://schemas.microsoft.com/office/drawing/2014/main" id="{577811E6-ED8A-4990-BDD6-3CCCFA663E10}"/>
                  </a:ext>
                </a:extLst>
              </p:cNvPr>
              <p:cNvGrpSpPr/>
              <p:nvPr/>
            </p:nvGrpSpPr>
            <p:grpSpPr>
              <a:xfrm>
                <a:off x="6001274" y="1867295"/>
                <a:ext cx="5571601" cy="3002351"/>
                <a:chOff x="6001274" y="1867295"/>
                <a:chExt cx="5571601" cy="3002351"/>
              </a:xfrm>
            </p:grpSpPr>
            <p:pic>
              <p:nvPicPr>
                <p:cNvPr id="346" name="Google Shape;330;p35" descr="Gráfico&#10;&#10;Descripción generada automáticamente con confianza media">
                  <a:extLst>
                    <a:ext uri="{FF2B5EF4-FFF2-40B4-BE49-F238E27FC236}">
                      <a16:creationId xmlns:a16="http://schemas.microsoft.com/office/drawing/2014/main" id="{993CB0A8-3130-4C4F-B968-4739257EE11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6">
                  <a:alphaModFix/>
                </a:blip>
                <a:srcRect/>
                <a:stretch/>
              </p:blipFill>
              <p:spPr>
                <a:xfrm>
                  <a:off x="6001274" y="1867295"/>
                  <a:ext cx="5571601" cy="30023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47" name="Google Shape;331;p35">
                  <a:extLst>
                    <a:ext uri="{FF2B5EF4-FFF2-40B4-BE49-F238E27FC236}">
                      <a16:creationId xmlns:a16="http://schemas.microsoft.com/office/drawing/2014/main" id="{07DAC455-8366-4511-BFC6-4E65B4432CC2}"/>
                    </a:ext>
                  </a:extLst>
                </p:cNvPr>
                <p:cNvSpPr/>
                <p:nvPr/>
              </p:nvSpPr>
              <p:spPr>
                <a:xfrm>
                  <a:off x="6154696" y="3951950"/>
                  <a:ext cx="71537" cy="452486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32;p35">
                  <a:extLst>
                    <a:ext uri="{FF2B5EF4-FFF2-40B4-BE49-F238E27FC236}">
                      <a16:creationId xmlns:a16="http://schemas.microsoft.com/office/drawing/2014/main" id="{6080CED5-D38B-46E9-9175-5A8348177ED6}"/>
                    </a:ext>
                  </a:extLst>
                </p:cNvPr>
                <p:cNvSpPr/>
                <p:nvPr/>
              </p:nvSpPr>
              <p:spPr>
                <a:xfrm>
                  <a:off x="6154696" y="2441729"/>
                  <a:ext cx="71537" cy="452486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" name="Google Shape;333;p35">
                  <a:extLst>
                    <a:ext uri="{FF2B5EF4-FFF2-40B4-BE49-F238E27FC236}">
                      <a16:creationId xmlns:a16="http://schemas.microsoft.com/office/drawing/2014/main" id="{7BB8A1AF-2BCB-43FC-87CE-58EAC776D640}"/>
                    </a:ext>
                  </a:extLst>
                </p:cNvPr>
                <p:cNvSpPr/>
                <p:nvPr/>
              </p:nvSpPr>
              <p:spPr>
                <a:xfrm>
                  <a:off x="6103947" y="1973852"/>
                  <a:ext cx="107306" cy="141932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34;p35">
                  <a:extLst>
                    <a:ext uri="{FF2B5EF4-FFF2-40B4-BE49-F238E27FC236}">
                      <a16:creationId xmlns:a16="http://schemas.microsoft.com/office/drawing/2014/main" id="{A44F97F2-7FBE-45C9-B22A-7FA0B1195BC4}"/>
                    </a:ext>
                  </a:extLst>
                </p:cNvPr>
                <p:cNvSpPr/>
                <p:nvPr/>
              </p:nvSpPr>
              <p:spPr>
                <a:xfrm>
                  <a:off x="6864620" y="3469065"/>
                  <a:ext cx="148922" cy="904972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35;p35">
                  <a:extLst>
                    <a:ext uri="{FF2B5EF4-FFF2-40B4-BE49-F238E27FC236}">
                      <a16:creationId xmlns:a16="http://schemas.microsoft.com/office/drawing/2014/main" id="{BFEA6805-E59E-4632-8329-ABB0D374EB01}"/>
                    </a:ext>
                  </a:extLst>
                </p:cNvPr>
                <p:cNvSpPr/>
                <p:nvPr/>
              </p:nvSpPr>
              <p:spPr>
                <a:xfrm>
                  <a:off x="6864620" y="2241276"/>
                  <a:ext cx="148922" cy="904972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" name="Google Shape;336;p35">
                  <a:extLst>
                    <a:ext uri="{FF2B5EF4-FFF2-40B4-BE49-F238E27FC236}">
                      <a16:creationId xmlns:a16="http://schemas.microsoft.com/office/drawing/2014/main" id="{3256CD54-45F4-449E-B3EF-DB4AABE483DF}"/>
                    </a:ext>
                  </a:extLst>
                </p:cNvPr>
                <p:cNvSpPr/>
                <p:nvPr/>
              </p:nvSpPr>
              <p:spPr>
                <a:xfrm>
                  <a:off x="7637571" y="3515913"/>
                  <a:ext cx="148922" cy="904972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" name="Google Shape;337;p35">
                  <a:extLst>
                    <a:ext uri="{FF2B5EF4-FFF2-40B4-BE49-F238E27FC236}">
                      <a16:creationId xmlns:a16="http://schemas.microsoft.com/office/drawing/2014/main" id="{844FB756-A447-4BA9-970C-453C5C6E53F6}"/>
                    </a:ext>
                  </a:extLst>
                </p:cNvPr>
                <p:cNvSpPr/>
                <p:nvPr/>
              </p:nvSpPr>
              <p:spPr>
                <a:xfrm>
                  <a:off x="7653286" y="2239118"/>
                  <a:ext cx="148922" cy="904972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38;p35">
                  <a:extLst>
                    <a:ext uri="{FF2B5EF4-FFF2-40B4-BE49-F238E27FC236}">
                      <a16:creationId xmlns:a16="http://schemas.microsoft.com/office/drawing/2014/main" id="{5DF2DB54-237A-4989-9B6E-58181862EF03}"/>
                    </a:ext>
                  </a:extLst>
                </p:cNvPr>
                <p:cNvSpPr/>
                <p:nvPr/>
              </p:nvSpPr>
              <p:spPr>
                <a:xfrm>
                  <a:off x="8441952" y="1973852"/>
                  <a:ext cx="102802" cy="265266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" name="Google Shape;339;p35">
                  <a:extLst>
                    <a:ext uri="{FF2B5EF4-FFF2-40B4-BE49-F238E27FC236}">
                      <a16:creationId xmlns:a16="http://schemas.microsoft.com/office/drawing/2014/main" id="{465BFA72-2EF0-433A-8CC9-AA7AAB0C1952}"/>
                    </a:ext>
                  </a:extLst>
                </p:cNvPr>
                <p:cNvSpPr/>
                <p:nvPr/>
              </p:nvSpPr>
              <p:spPr>
                <a:xfrm>
                  <a:off x="8441952" y="2984792"/>
                  <a:ext cx="102802" cy="265266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" name="Google Shape;340;p35">
                  <a:extLst>
                    <a:ext uri="{FF2B5EF4-FFF2-40B4-BE49-F238E27FC236}">
                      <a16:creationId xmlns:a16="http://schemas.microsoft.com/office/drawing/2014/main" id="{CE9398A8-7819-4607-B98E-A34E880A44B9}"/>
                    </a:ext>
                  </a:extLst>
                </p:cNvPr>
                <p:cNvSpPr/>
                <p:nvPr/>
              </p:nvSpPr>
              <p:spPr>
                <a:xfrm>
                  <a:off x="8454498" y="3892141"/>
                  <a:ext cx="102802" cy="265266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" name="Google Shape;341;p35">
                  <a:extLst>
                    <a:ext uri="{FF2B5EF4-FFF2-40B4-BE49-F238E27FC236}">
                      <a16:creationId xmlns:a16="http://schemas.microsoft.com/office/drawing/2014/main" id="{90C3EA80-D942-409E-891B-E537E4B9D555}"/>
                    </a:ext>
                  </a:extLst>
                </p:cNvPr>
                <p:cNvSpPr/>
                <p:nvPr/>
              </p:nvSpPr>
              <p:spPr>
                <a:xfrm>
                  <a:off x="9203352" y="1922609"/>
                  <a:ext cx="185031" cy="265266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42;p35">
                  <a:extLst>
                    <a:ext uri="{FF2B5EF4-FFF2-40B4-BE49-F238E27FC236}">
                      <a16:creationId xmlns:a16="http://schemas.microsoft.com/office/drawing/2014/main" id="{30E8604C-585D-479D-AFFC-88FF5C4263B7}"/>
                    </a:ext>
                  </a:extLst>
                </p:cNvPr>
                <p:cNvSpPr/>
                <p:nvPr/>
              </p:nvSpPr>
              <p:spPr>
                <a:xfrm>
                  <a:off x="9224127" y="2686417"/>
                  <a:ext cx="185031" cy="576596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43;p35">
                  <a:extLst>
                    <a:ext uri="{FF2B5EF4-FFF2-40B4-BE49-F238E27FC236}">
                      <a16:creationId xmlns:a16="http://schemas.microsoft.com/office/drawing/2014/main" id="{63F35B7E-A586-47F0-A789-C327898452D7}"/>
                    </a:ext>
                  </a:extLst>
                </p:cNvPr>
                <p:cNvSpPr/>
                <p:nvPr/>
              </p:nvSpPr>
              <p:spPr>
                <a:xfrm>
                  <a:off x="9225305" y="3759366"/>
                  <a:ext cx="185031" cy="576596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" name="Google Shape;344;p35">
                  <a:extLst>
                    <a:ext uri="{FF2B5EF4-FFF2-40B4-BE49-F238E27FC236}">
                      <a16:creationId xmlns:a16="http://schemas.microsoft.com/office/drawing/2014/main" id="{A3D3FA3F-B979-4973-93E8-65086B55D2A5}"/>
                    </a:ext>
                  </a:extLst>
                </p:cNvPr>
                <p:cNvSpPr/>
                <p:nvPr/>
              </p:nvSpPr>
              <p:spPr>
                <a:xfrm>
                  <a:off x="10058296" y="2220964"/>
                  <a:ext cx="102802" cy="904972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" name="Google Shape;345;p35">
                  <a:extLst>
                    <a:ext uri="{FF2B5EF4-FFF2-40B4-BE49-F238E27FC236}">
                      <a16:creationId xmlns:a16="http://schemas.microsoft.com/office/drawing/2014/main" id="{1830FE04-B1A4-4959-9288-8AB453D97C7E}"/>
                    </a:ext>
                  </a:extLst>
                </p:cNvPr>
                <p:cNvSpPr/>
                <p:nvPr/>
              </p:nvSpPr>
              <p:spPr>
                <a:xfrm>
                  <a:off x="10068914" y="3522893"/>
                  <a:ext cx="102802" cy="904972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" name="Google Shape;346;p35">
                  <a:extLst>
                    <a:ext uri="{FF2B5EF4-FFF2-40B4-BE49-F238E27FC236}">
                      <a16:creationId xmlns:a16="http://schemas.microsoft.com/office/drawing/2014/main" id="{C019AB45-9629-4D4A-B54A-58EF74E77F5F}"/>
                    </a:ext>
                  </a:extLst>
                </p:cNvPr>
                <p:cNvSpPr/>
                <p:nvPr/>
              </p:nvSpPr>
              <p:spPr>
                <a:xfrm>
                  <a:off x="10844921" y="2303688"/>
                  <a:ext cx="185031" cy="904972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47;p35">
                  <a:extLst>
                    <a:ext uri="{FF2B5EF4-FFF2-40B4-BE49-F238E27FC236}">
                      <a16:creationId xmlns:a16="http://schemas.microsoft.com/office/drawing/2014/main" id="{3F439E3B-2C11-4385-9B85-BF2FA7B51E4B}"/>
                    </a:ext>
                  </a:extLst>
                </p:cNvPr>
                <p:cNvSpPr/>
                <p:nvPr/>
              </p:nvSpPr>
              <p:spPr>
                <a:xfrm>
                  <a:off x="10836334" y="3621251"/>
                  <a:ext cx="185031" cy="904972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45" name="Google Shape;348;p35">
                <a:extLst>
                  <a:ext uri="{FF2B5EF4-FFF2-40B4-BE49-F238E27FC236}">
                    <a16:creationId xmlns:a16="http://schemas.microsoft.com/office/drawing/2014/main" id="{EA4CCCE2-6469-45B8-8026-E132B92331A7}"/>
                  </a:ext>
                </a:extLst>
              </p:cNvPr>
              <p:cNvSpPr/>
              <p:nvPr/>
            </p:nvSpPr>
            <p:spPr>
              <a:xfrm>
                <a:off x="6103947" y="3284950"/>
                <a:ext cx="116733" cy="370293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5" name="Google Shape;112;p13">
            <a:extLst>
              <a:ext uri="{FF2B5EF4-FFF2-40B4-BE49-F238E27FC236}">
                <a16:creationId xmlns:a16="http://schemas.microsoft.com/office/drawing/2014/main" id="{BFBC41C6-6E2F-45ED-A3B1-1F8A4598757F}"/>
              </a:ext>
            </a:extLst>
          </p:cNvPr>
          <p:cNvSpPr txBox="1"/>
          <p:nvPr/>
        </p:nvSpPr>
        <p:spPr>
          <a:xfrm>
            <a:off x="13830217" y="25036761"/>
            <a:ext cx="10862655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/>
              <a:t>Fig 5. </a:t>
            </a:r>
            <a:r>
              <a:rPr lang="es" sz="2200" dirty="0">
                <a:solidFill>
                  <a:schemeClr val="dk1"/>
                </a:solidFill>
              </a:rPr>
              <a:t>Histograma para variables morfométricas de abanicos y cuencas.</a:t>
            </a:r>
            <a:endParaRPr sz="2200" dirty="0"/>
          </a:p>
        </p:txBody>
      </p:sp>
      <p:sp>
        <p:nvSpPr>
          <p:cNvPr id="379" name="Google Shape;112;p13">
            <a:extLst>
              <a:ext uri="{FF2B5EF4-FFF2-40B4-BE49-F238E27FC236}">
                <a16:creationId xmlns:a16="http://schemas.microsoft.com/office/drawing/2014/main" id="{2D2AD023-44FC-4FC0-93C9-77C311D52D2B}"/>
              </a:ext>
            </a:extLst>
          </p:cNvPr>
          <p:cNvSpPr txBox="1"/>
          <p:nvPr/>
        </p:nvSpPr>
        <p:spPr>
          <a:xfrm>
            <a:off x="8417117" y="29522493"/>
            <a:ext cx="11433514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/>
              <a:t>Fig 6. </a:t>
            </a:r>
            <a:r>
              <a:rPr lang="es" sz="2200" dirty="0">
                <a:solidFill>
                  <a:schemeClr val="dk1"/>
                </a:solidFill>
              </a:rPr>
              <a:t>Diagrama de caja para variables morfométricas de abanicos y cuencas</a:t>
            </a:r>
            <a:endParaRPr sz="2200" dirty="0"/>
          </a:p>
        </p:txBody>
      </p:sp>
      <p:sp>
        <p:nvSpPr>
          <p:cNvPr id="380" name="Google Shape;112;p13">
            <a:extLst>
              <a:ext uri="{FF2B5EF4-FFF2-40B4-BE49-F238E27FC236}">
                <a16:creationId xmlns:a16="http://schemas.microsoft.com/office/drawing/2014/main" id="{536D8CEA-9492-4953-9E29-E61C3B645333}"/>
              </a:ext>
            </a:extLst>
          </p:cNvPr>
          <p:cNvSpPr txBox="1"/>
          <p:nvPr/>
        </p:nvSpPr>
        <p:spPr>
          <a:xfrm>
            <a:off x="23053681" y="28352109"/>
            <a:ext cx="11433514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/>
              <a:t>Fig 7. Diagramas de dispersión </a:t>
            </a:r>
            <a:endParaRPr sz="2200" dirty="0"/>
          </a:p>
        </p:txBody>
      </p:sp>
      <p:sp>
        <p:nvSpPr>
          <p:cNvPr id="381" name="Google Shape;112;p13">
            <a:extLst>
              <a:ext uri="{FF2B5EF4-FFF2-40B4-BE49-F238E27FC236}">
                <a16:creationId xmlns:a16="http://schemas.microsoft.com/office/drawing/2014/main" id="{E20933B1-068A-4864-9830-22530B1BD3EB}"/>
              </a:ext>
            </a:extLst>
          </p:cNvPr>
          <p:cNvSpPr txBox="1"/>
          <p:nvPr/>
        </p:nvSpPr>
        <p:spPr>
          <a:xfrm>
            <a:off x="9570019" y="37695094"/>
            <a:ext cx="11433514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dirty="0"/>
              <a:t>Fig 8. Correlación de Pearson para todas las variables morfométricas</a:t>
            </a:r>
            <a:endParaRPr sz="2200" dirty="0"/>
          </a:p>
        </p:txBody>
      </p:sp>
      <p:pic>
        <p:nvPicPr>
          <p:cNvPr id="189" name="Google Shape;166;p23" descr="Un dibujo de un árbol&#10;&#10;Descripción generada automáticamente con confianza media">
            <a:extLst>
              <a:ext uri="{FF2B5EF4-FFF2-40B4-BE49-F238E27FC236}">
                <a16:creationId xmlns:a16="http://schemas.microsoft.com/office/drawing/2014/main" id="{E8B99682-B461-4DF3-B841-9B928D10C376}"/>
              </a:ext>
            </a:extLst>
          </p:cNvPr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20436925" y="14729560"/>
            <a:ext cx="8394313" cy="5595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 descr="Mapa&#10;&#10;Descripción generada automáticamente con confianza media">
            <a:extLst>
              <a:ext uri="{FF2B5EF4-FFF2-40B4-BE49-F238E27FC236}">
                <a16:creationId xmlns:a16="http://schemas.microsoft.com/office/drawing/2014/main" id="{9EEC8731-DCE8-4B33-9095-1697384E82BA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306084" y="14602986"/>
            <a:ext cx="4852455" cy="5741303"/>
          </a:xfrm>
          <a:prstGeom prst="rect">
            <a:avLst/>
          </a:prstGeom>
        </p:spPr>
      </p:pic>
      <p:pic>
        <p:nvPicPr>
          <p:cNvPr id="8" name="Imagen 7" descr="Mapa&#10;&#10;Descripción generada automáticamente">
            <a:extLst>
              <a:ext uri="{FF2B5EF4-FFF2-40B4-BE49-F238E27FC236}">
                <a16:creationId xmlns:a16="http://schemas.microsoft.com/office/drawing/2014/main" id="{04E85769-15B1-4EDA-82D9-DA68DF751009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80520" y="14570270"/>
            <a:ext cx="4876661" cy="577762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C709085-EE49-41B5-9E01-478E0389C548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346379" y="14738776"/>
            <a:ext cx="8900609" cy="5499349"/>
          </a:xfrm>
          <a:prstGeom prst="rect">
            <a:avLst/>
          </a:prstGeom>
        </p:spPr>
      </p:pic>
      <p:sp>
        <p:nvSpPr>
          <p:cNvPr id="226" name="Google Shape;71;p13">
            <a:extLst>
              <a:ext uri="{FF2B5EF4-FFF2-40B4-BE49-F238E27FC236}">
                <a16:creationId xmlns:a16="http://schemas.microsoft.com/office/drawing/2014/main" id="{C04300E5-B07C-40C4-8952-662F10A68234}"/>
              </a:ext>
            </a:extLst>
          </p:cNvPr>
          <p:cNvSpPr txBox="1"/>
          <p:nvPr/>
        </p:nvSpPr>
        <p:spPr>
          <a:xfrm>
            <a:off x="22853735" y="10274944"/>
            <a:ext cx="7056209" cy="6463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 b="1" dirty="0"/>
              <a:t>INSUMOS</a:t>
            </a:r>
            <a:endParaRPr sz="3000" b="1" dirty="0"/>
          </a:p>
        </p:txBody>
      </p:sp>
      <p:cxnSp>
        <p:nvCxnSpPr>
          <p:cNvPr id="227" name="Google Shape;86;p13">
            <a:extLst>
              <a:ext uri="{FF2B5EF4-FFF2-40B4-BE49-F238E27FC236}">
                <a16:creationId xmlns:a16="http://schemas.microsoft.com/office/drawing/2014/main" id="{C2181997-30DA-4D18-9301-1F9F8988182E}"/>
              </a:ext>
            </a:extLst>
          </p:cNvPr>
          <p:cNvCxnSpPr>
            <a:cxnSpLocks/>
          </p:cNvCxnSpPr>
          <p:nvPr/>
        </p:nvCxnSpPr>
        <p:spPr>
          <a:xfrm>
            <a:off x="22735962" y="10902433"/>
            <a:ext cx="0" cy="2859419"/>
          </a:xfrm>
          <a:prstGeom prst="straightConnector1">
            <a:avLst/>
          </a:prstGeom>
          <a:noFill/>
          <a:ln w="38100" cap="flat" cmpd="sng">
            <a:solidFill>
              <a:srgbClr val="38761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" name="Google Shape;165;p23">
            <a:extLst>
              <a:ext uri="{FF2B5EF4-FFF2-40B4-BE49-F238E27FC236}">
                <a16:creationId xmlns:a16="http://schemas.microsoft.com/office/drawing/2014/main" id="{A8CE458F-957B-460A-BE35-31DA9FD1E9BE}"/>
              </a:ext>
            </a:extLst>
          </p:cNvPr>
          <p:cNvSpPr txBox="1"/>
          <p:nvPr/>
        </p:nvSpPr>
        <p:spPr>
          <a:xfrm>
            <a:off x="22735962" y="11305426"/>
            <a:ext cx="8096732" cy="2015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O" sz="25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Modelo de elevación digital 10m - CartoAntioquia.</a:t>
            </a:r>
            <a:endParaRPr sz="2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O" sz="25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Modelo de elevación digital 2m, 5m</a:t>
            </a:r>
            <a:r>
              <a:rPr lang="es-CO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s-CO" sz="25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AMVA</a:t>
            </a:r>
            <a:endParaRPr sz="2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O" sz="25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Modelo de Elevación digital 12,5m - Alos Palsar</a:t>
            </a:r>
            <a:endParaRPr sz="2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O" sz="25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Mapa geológico de Colombia escala 1:100.000</a:t>
            </a:r>
            <a:endParaRPr sz="2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5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Imágenes satelitales de Google Earth</a:t>
            </a:r>
            <a:endParaRPr sz="25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B601B7-3896-4763-8A62-6001B78A77F5}"/>
              </a:ext>
            </a:extLst>
          </p:cNvPr>
          <p:cNvSpPr/>
          <p:nvPr/>
        </p:nvSpPr>
        <p:spPr>
          <a:xfrm>
            <a:off x="9503231" y="20062375"/>
            <a:ext cx="625483" cy="91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0" name="Rectángulo 189">
            <a:extLst>
              <a:ext uri="{FF2B5EF4-FFF2-40B4-BE49-F238E27FC236}">
                <a16:creationId xmlns:a16="http://schemas.microsoft.com/office/drawing/2014/main" id="{C5D296D0-0077-4793-8D7D-331FB12C3648}"/>
              </a:ext>
            </a:extLst>
          </p:cNvPr>
          <p:cNvSpPr/>
          <p:nvPr/>
        </p:nvSpPr>
        <p:spPr>
          <a:xfrm>
            <a:off x="10122420" y="20062375"/>
            <a:ext cx="625483" cy="917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AA030C4-6F74-44C3-8BF0-140B0B498D16}"/>
              </a:ext>
            </a:extLst>
          </p:cNvPr>
          <p:cNvSpPr txBox="1"/>
          <p:nvPr/>
        </p:nvSpPr>
        <p:spPr>
          <a:xfrm>
            <a:off x="9446502" y="20106429"/>
            <a:ext cx="1755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0        2         4 (km)</a:t>
            </a:r>
          </a:p>
        </p:txBody>
      </p:sp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59125118-D52F-4B80-A259-F0337439C7F5}"/>
              </a:ext>
            </a:extLst>
          </p:cNvPr>
          <p:cNvSpPr/>
          <p:nvPr/>
        </p:nvSpPr>
        <p:spPr>
          <a:xfrm>
            <a:off x="10778873" y="14729560"/>
            <a:ext cx="279523" cy="334797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1" name="Rectángulo 190">
            <a:extLst>
              <a:ext uri="{FF2B5EF4-FFF2-40B4-BE49-F238E27FC236}">
                <a16:creationId xmlns:a16="http://schemas.microsoft.com/office/drawing/2014/main" id="{1EF4C1DE-0686-4B62-8891-E05302CFE1DB}"/>
              </a:ext>
            </a:extLst>
          </p:cNvPr>
          <p:cNvSpPr/>
          <p:nvPr/>
        </p:nvSpPr>
        <p:spPr>
          <a:xfrm>
            <a:off x="27124501" y="20007759"/>
            <a:ext cx="625483" cy="91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2" name="Rectángulo 191">
            <a:extLst>
              <a:ext uri="{FF2B5EF4-FFF2-40B4-BE49-F238E27FC236}">
                <a16:creationId xmlns:a16="http://schemas.microsoft.com/office/drawing/2014/main" id="{831D51D2-E3E7-487C-BF38-87846553B2CB}"/>
              </a:ext>
            </a:extLst>
          </p:cNvPr>
          <p:cNvSpPr/>
          <p:nvPr/>
        </p:nvSpPr>
        <p:spPr>
          <a:xfrm>
            <a:off x="27743690" y="20007759"/>
            <a:ext cx="625483" cy="9175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18" name="CuadroTexto 217">
            <a:extLst>
              <a:ext uri="{FF2B5EF4-FFF2-40B4-BE49-F238E27FC236}">
                <a16:creationId xmlns:a16="http://schemas.microsoft.com/office/drawing/2014/main" id="{A399F696-2D6C-4E74-9FD0-A73F77DC02EA}"/>
              </a:ext>
            </a:extLst>
          </p:cNvPr>
          <p:cNvSpPr txBox="1"/>
          <p:nvPr/>
        </p:nvSpPr>
        <p:spPr>
          <a:xfrm>
            <a:off x="27067772" y="20051813"/>
            <a:ext cx="1805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/>
              <a:t>0         3         6 (km)</a:t>
            </a:r>
          </a:p>
        </p:txBody>
      </p:sp>
      <p:sp>
        <p:nvSpPr>
          <p:cNvPr id="219" name="Triángulo isósceles 218">
            <a:extLst>
              <a:ext uri="{FF2B5EF4-FFF2-40B4-BE49-F238E27FC236}">
                <a16:creationId xmlns:a16="http://schemas.microsoft.com/office/drawing/2014/main" id="{61075262-07BE-4069-832D-196539EA9D7B}"/>
              </a:ext>
            </a:extLst>
          </p:cNvPr>
          <p:cNvSpPr/>
          <p:nvPr/>
        </p:nvSpPr>
        <p:spPr>
          <a:xfrm>
            <a:off x="28400143" y="14849119"/>
            <a:ext cx="279523" cy="334797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B1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676</Words>
  <Application>Microsoft Office PowerPoint</Application>
  <PresentationFormat>Personalizado</PresentationFormat>
  <Paragraphs>76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Simple Light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Involucionados</cp:lastModifiedBy>
  <cp:revision>16</cp:revision>
  <dcterms:modified xsi:type="dcterms:W3CDTF">2021-10-27T12:21:54Z</dcterms:modified>
</cp:coreProperties>
</file>